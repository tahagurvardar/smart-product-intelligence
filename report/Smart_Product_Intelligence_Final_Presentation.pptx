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AHA GURVARDAR" initials="TG" lastIdx="1" clrIdx="0">
    <p:extLst>
      <p:ext uri="{19B8F6BF-5375-455C-9EA6-DF929625EA0E}">
        <p15:presenceInfo xmlns:p15="http://schemas.microsoft.com/office/powerpoint/2012/main" userId="56f3fdef014c05b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BDF8"/>
    <a:srgbClr val="A78BFA"/>
    <a:srgbClr val="FBBF24"/>
    <a:srgbClr val="34D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92" y="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932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Smart Product Intelligence as a complete AI engineering capstone. Emphasize that the project combines data preparation, modeling, generative AI, and a final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project goal: turn product reviews, images, and metadata into useful product intelligence outputs through a final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the dataset, selected category, and why product-level splitting matters for realistic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system architecture from raw dataset to processed splits, model notebooks, final Gradio app, and report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data engineering steps: loading, cleaning, joining, feature creation, EDA, and product-level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the tabular models and why baselines are necessary before moving to multimodal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image pipeline and why MobileNetV2 transfer learning is included alongside a small CNN.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the two-part text milestone: classification and similar product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transformer milestone and its fallback strategy for local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product-level summaries and RAG question answering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prompt creation, Stable Diffusion model choice, fallback model, and quality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live demo sequence and what each tab represents.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Summarize the tangible outputs across data, notebooks, app, report, and generated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engineering and modeling limitations encountered across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 a practical roadmap for improving the project after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by emphasizing breadth, integration, and portfolio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566928"/>
            <a:ext cx="365760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Cascadia Mono"/>
              </a:rPr>
              <a:t>SMART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14400"/>
            <a:ext cx="5029200" cy="8229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Aptos Display"/>
              </a:rPr>
              <a:t>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603504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900" b="0">
                <a:solidFill>
                  <a:srgbClr val="94A3B8"/>
                </a:solidFill>
                <a:latin typeface="Aptos"/>
              </a:rPr>
              <a:t>AI-powered product analytics for Amazon beauty reviews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331720"/>
            <a:ext cx="150876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386584"/>
            <a:ext cx="150876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34D399"/>
                </a:solidFill>
                <a:latin typeface="Aptos"/>
              </a:rPr>
              <a:t>TensorFlow / Keras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9152" y="2331720"/>
            <a:ext cx="100584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59152" y="2386584"/>
            <a:ext cx="10058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A78BFA"/>
                </a:solidFill>
                <a:latin typeface="Aptos"/>
              </a:rPr>
              <a:t>DistilBERT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2331720"/>
            <a:ext cx="658368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93008" y="2386584"/>
            <a:ext cx="658368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Aptos"/>
              </a:rPr>
              <a:t>RAG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141732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79392" y="2386584"/>
            <a:ext cx="141732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FBBF24"/>
                </a:solidFill>
                <a:latin typeface="Aptos"/>
              </a:rPr>
              <a:t>Stable Diffusion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3872" y="2331720"/>
            <a:ext cx="82296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33872" y="2386584"/>
            <a:ext cx="82296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FB7185"/>
                </a:solidFill>
                <a:latin typeface="Aptos"/>
              </a:rPr>
              <a:t>Gradio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886200"/>
            <a:ext cx="2743200" cy="114300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886200"/>
            <a:ext cx="54864" cy="1143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014215"/>
            <a:ext cx="24231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Dataset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416552"/>
            <a:ext cx="1997150" cy="5062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Amazon Reviews 2023</a:t>
            </a:r>
            <a:br>
              <a:rPr dirty="0"/>
            </a:br>
            <a:r>
              <a:rPr dirty="0">
                <a:solidFill>
                  <a:srgbClr val="38BDF8"/>
                </a:solidFill>
              </a:rPr>
              <a:t>Category: </a:t>
            </a:r>
            <a:r>
              <a:rPr dirty="0" err="1">
                <a:solidFill>
                  <a:srgbClr val="38BDF8"/>
                </a:solidFill>
              </a:rPr>
              <a:t>All_Beauty</a:t>
            </a:r>
            <a:endParaRPr dirty="0">
              <a:solidFill>
                <a:srgbClr val="38BDF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730752" y="3886200"/>
            <a:ext cx="2743200" cy="114300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730752" y="3886200"/>
            <a:ext cx="54864" cy="1143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31920" y="4014215"/>
            <a:ext cx="24231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Final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416552"/>
            <a:ext cx="1756186" cy="5062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Integrated multimodal</a:t>
            </a:r>
            <a:br>
              <a:rPr dirty="0"/>
            </a:br>
            <a:r>
              <a:rPr dirty="0" err="1">
                <a:solidFill>
                  <a:srgbClr val="A78BFA"/>
                </a:solidFill>
              </a:rPr>
              <a:t>Gradio</a:t>
            </a:r>
            <a:r>
              <a:rPr dirty="0">
                <a:solidFill>
                  <a:srgbClr val="A78BFA"/>
                </a:solidFill>
              </a:rPr>
              <a:t> application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48272" y="3886200"/>
            <a:ext cx="2743200" cy="114300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748272" y="3886200"/>
            <a:ext cx="54864" cy="1143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0" y="4014215"/>
            <a:ext cx="24231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Portfolio Focus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416552"/>
            <a:ext cx="1803764" cy="5062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AI engineering workflow</a:t>
            </a:r>
            <a:br>
              <a:rPr dirty="0"/>
            </a:br>
            <a:r>
              <a:rPr dirty="0">
                <a:solidFill>
                  <a:srgbClr val="34D399"/>
                </a:solidFill>
              </a:rPr>
              <a:t>from data to demo</a:t>
            </a:r>
          </a:p>
        </p:txBody>
      </p:sp>
      <p:sp>
        <p:nvSpPr>
          <p:cNvPr id="30" name="Oval 29"/>
          <p:cNvSpPr/>
          <p:nvPr/>
        </p:nvSpPr>
        <p:spPr>
          <a:xfrm>
            <a:off x="8229600" y="1005840"/>
            <a:ext cx="201168" cy="20116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692640" y="822960"/>
            <a:ext cx="201168" cy="20116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789920" y="1645920"/>
            <a:ext cx="201168" cy="20116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869680" y="2560320"/>
            <a:ext cx="201168" cy="20116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241280" y="2926080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9235440" y="4114800"/>
            <a:ext cx="201168" cy="201168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" name="Connector 35"/>
          <p:cNvCxnSpPr/>
          <p:nvPr/>
        </p:nvCxnSpPr>
        <p:spPr>
          <a:xfrm flipV="1">
            <a:off x="8330183" y="923544"/>
            <a:ext cx="1463041" cy="18288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793224" y="923544"/>
            <a:ext cx="1097280" cy="82296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330183" y="1106424"/>
            <a:ext cx="640081" cy="155448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70264" y="2660904"/>
            <a:ext cx="1371600" cy="36576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36024" y="3026664"/>
            <a:ext cx="1005840" cy="118872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970264" y="2660904"/>
            <a:ext cx="365760" cy="155448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970264" y="923544"/>
            <a:ext cx="822960" cy="1737360"/>
          </a:xfrm>
          <a:prstGeom prst="line">
            <a:avLst/>
          </a:prstGeom>
          <a:ln w="17780">
            <a:solidFill>
              <a:srgbClr val="445B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13232" y="6144768"/>
            <a:ext cx="41148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50" b="0" dirty="0">
                <a:solidFill>
                  <a:srgbClr val="94A3B8"/>
                </a:solidFill>
                <a:latin typeface="Aptos"/>
              </a:rPr>
              <a:t>University Capstone 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8BDF8"/>
                </a:solidFill>
                <a:latin typeface="Cascadia Mon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A multimodal AI system for product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600200"/>
            <a:ext cx="4937760" cy="3291840"/>
          </a:xfrm>
          <a:prstGeom prst="rect">
            <a:avLst/>
          </a:prstGeom>
          <a:noFill/>
        </p:spPr>
        <p:txBody>
          <a:bodyPr wrap="none" lIns="73152" tIns="36576" rIns="54864" bIns="36576">
            <a:spAutoFit/>
          </a:bodyPr>
          <a:lstStyle/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Goal: build an end-to-end AI workflow for beauty product analytics</a:t>
            </a:r>
          </a:p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Inputs: metadata, review text, product images, user questions</a:t>
            </a:r>
          </a:p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Outputs: rating bands, category signals, similar products, review summaries, generated hero images</a:t>
            </a:r>
          </a:p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Final interface: five-tab Gradio application with safe fallbacks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4389120" cy="86868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4864" cy="868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545336"/>
            <a:ext cx="406908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46504"/>
            <a:ext cx="1820370" cy="5062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38BDF8"/>
                </a:solidFill>
                <a:latin typeface="Aptos"/>
              </a:rPr>
              <a:t>EDA, cleaning,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product-level splits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51760"/>
            <a:ext cx="4389120" cy="86868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2651760"/>
            <a:ext cx="54864" cy="868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19088" y="2779776"/>
            <a:ext cx="406908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Predict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5372" y="2980944"/>
            <a:ext cx="1716752" cy="5062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A78BFA"/>
                </a:solidFill>
                <a:latin typeface="Aptos"/>
              </a:rPr>
              <a:t>Tabular, vision,</a:t>
            </a:r>
            <a:br>
              <a:rPr dirty="0">
                <a:solidFill>
                  <a:srgbClr val="A78BFA"/>
                </a:solidFill>
              </a:rPr>
            </a:br>
            <a:r>
              <a:rPr dirty="0">
                <a:solidFill>
                  <a:srgbClr val="A78BFA"/>
                </a:solidFill>
              </a:rPr>
              <a:t>text, transformers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886200"/>
            <a:ext cx="4389120" cy="86868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886200"/>
            <a:ext cx="54864" cy="868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9088" y="4014215"/>
            <a:ext cx="406908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224528"/>
            <a:ext cx="1988814" cy="5062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34D399"/>
                </a:solidFill>
                <a:latin typeface="Aptos"/>
              </a:rPr>
              <a:t>RAG answers and</a:t>
            </a:r>
            <a:br>
              <a:rPr dirty="0">
                <a:solidFill>
                  <a:srgbClr val="34D399"/>
                </a:solidFill>
              </a:rPr>
            </a:br>
            <a:r>
              <a:rPr dirty="0">
                <a:solidFill>
                  <a:srgbClr val="34D399"/>
                </a:solidFill>
              </a:rPr>
              <a:t>hero image concepts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413248"/>
            <a:ext cx="9966960" cy="5029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0">
                <a:solidFill>
                  <a:srgbClr val="94A3B8"/>
                </a:solidFill>
                <a:latin typeface="Aptos"/>
              </a:rPr>
              <a:t>The project demonstrates breadth across ML, deep learning, NLP, retrieval, and generative AI while keeping the implementation practical for local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scadia Mono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Amazon Reviews 2023 provides the product intelligence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44752"/>
            <a:ext cx="4800600" cy="28346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1444752"/>
            <a:ext cx="54864" cy="28346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572768"/>
            <a:ext cx="44805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Dataset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75104"/>
            <a:ext cx="3135410" cy="106029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Source: McAuley-Lab/Amazon-Reviews-2023</a:t>
            </a:r>
            <a:br>
              <a:rPr dirty="0"/>
            </a:br>
            <a:r>
              <a:rPr dirty="0">
                <a:solidFill>
                  <a:srgbClr val="34D399"/>
                </a:solidFill>
              </a:rPr>
              <a:t>Category: </a:t>
            </a:r>
            <a:r>
              <a:rPr dirty="0" err="1">
                <a:solidFill>
                  <a:srgbClr val="34D399"/>
                </a:solidFill>
              </a:rPr>
              <a:t>All_Beauty</a:t>
            </a:r>
            <a:br>
              <a:rPr dirty="0">
                <a:solidFill>
                  <a:srgbClr val="34D399"/>
                </a:solidFill>
              </a:rPr>
            </a:br>
            <a:r>
              <a:rPr dirty="0">
                <a:solidFill>
                  <a:srgbClr val="34D399"/>
                </a:solidFill>
              </a:rPr>
              <a:t>Reviews: </a:t>
            </a:r>
            <a:r>
              <a:rPr dirty="0" err="1">
                <a:solidFill>
                  <a:srgbClr val="34D399"/>
                </a:solidFill>
              </a:rPr>
              <a:t>raw_review_All_Beauty</a:t>
            </a:r>
            <a:br>
              <a:rPr dirty="0">
                <a:solidFill>
                  <a:srgbClr val="34D399"/>
                </a:solidFill>
              </a:rPr>
            </a:br>
            <a:r>
              <a:rPr dirty="0">
                <a:solidFill>
                  <a:srgbClr val="34D399"/>
                </a:solidFill>
              </a:rPr>
              <a:t>Metadata: </a:t>
            </a:r>
            <a:r>
              <a:rPr dirty="0" err="1">
                <a:solidFill>
                  <a:srgbClr val="34D399"/>
                </a:solidFill>
              </a:rPr>
              <a:t>raw_meta_All_Beauty</a:t>
            </a:r>
            <a:endParaRPr dirty="0">
              <a:solidFill>
                <a:srgbClr val="34D399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13232" y="4526280"/>
            <a:ext cx="4800600" cy="114300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4526280"/>
            <a:ext cx="54864" cy="1143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654296"/>
            <a:ext cx="44805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Leakage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56632"/>
            <a:ext cx="4383741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Train, validation, and test sets are split by product ID rather than individual review rows.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481328"/>
            <a:ext cx="32004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Product-level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98424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Train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70648" y="2002536"/>
            <a:ext cx="251460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470648" y="2002536"/>
            <a:ext cx="2514600" cy="14630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0" y="196596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47192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70648" y="2490216"/>
            <a:ext cx="251460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470648" y="2490216"/>
            <a:ext cx="538842" cy="14630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245364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95960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0648" y="2977896"/>
            <a:ext cx="251460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470648" y="2977896"/>
            <a:ext cx="538842" cy="14630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0" y="294132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08192" y="3840480"/>
            <a:ext cx="320040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Processed outputs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315968"/>
            <a:ext cx="324612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0" y="4370831"/>
            <a:ext cx="324612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FBBF24"/>
                </a:solidFill>
                <a:latin typeface="Aptos"/>
              </a:rPr>
              <a:t>data/processed/train.csv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754879"/>
            <a:ext cx="324612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72200" y="4809743"/>
            <a:ext cx="324612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Aptos"/>
              </a:rPr>
              <a:t>data/processed/validation.csv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193792"/>
            <a:ext cx="3246120" cy="347472"/>
          </a:xfrm>
          <a:prstGeom prst="roundRect">
            <a:avLst/>
          </a:prstGeom>
          <a:solidFill>
            <a:srgbClr val="0C1E34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72200" y="5248655"/>
            <a:ext cx="324612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50" b="1">
                <a:solidFill>
                  <a:srgbClr val="38BDF8"/>
                </a:solidFill>
                <a:latin typeface="Aptos"/>
              </a:rPr>
              <a:t>data/processed/test.csv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Cascadia Mon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A clean pipeline connects data, models, and the final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28800"/>
            <a:ext cx="1600200" cy="86868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938528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Raw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67712"/>
            <a:ext cx="1380744" cy="36575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Reviews + metadata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1828800"/>
            <a:ext cx="1600200" cy="86868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79192" y="1938528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Processed Splits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2267712"/>
            <a:ext cx="1380744" cy="36575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Train / validation / test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0" y="1828800"/>
            <a:ext cx="1600200" cy="86868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73752" y="1938528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Model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2267712"/>
            <a:ext cx="1417320" cy="32932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50" b="0" dirty="0">
                <a:solidFill>
                  <a:srgbClr val="94A3B8"/>
                </a:solidFill>
                <a:latin typeface="Aptos"/>
              </a:rPr>
              <a:t>Tabular, vision, text, transformer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828800"/>
            <a:ext cx="1600200" cy="86868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42631" y="1938528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Generative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8" y="2267712"/>
            <a:ext cx="1380744" cy="36575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RAG + diffusion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72600" y="1828800"/>
            <a:ext cx="1600200" cy="86868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45752" y="1938528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Gradio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2267712"/>
            <a:ext cx="1380744" cy="36575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Five-tab interface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2267712"/>
            <a:ext cx="292608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0560" y="2267712"/>
            <a:ext cx="292608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949440" y="2267712"/>
            <a:ext cx="292608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2560" y="2267712"/>
            <a:ext cx="292608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14400" y="3794760"/>
            <a:ext cx="2286000" cy="9601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4400" y="3794760"/>
            <a:ext cx="54864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15568" y="3922776"/>
            <a:ext cx="19659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src/data.py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4325112"/>
            <a:ext cx="1965960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Data access and preprocessing layer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3794760"/>
            <a:ext cx="2286000" cy="9601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429000" y="3794760"/>
            <a:ext cx="54864" cy="9601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30168" y="3922776"/>
            <a:ext cx="19659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src/models.py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4325112"/>
            <a:ext cx="1965960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Model construction and inference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3794760"/>
            <a:ext cx="2286000" cy="9601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943600" y="3794760"/>
            <a:ext cx="54864" cy="9601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44768" y="3922776"/>
            <a:ext cx="19659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src/utils.py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4325112"/>
            <a:ext cx="1965960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Configuration, paths, logging, seeds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58200" y="3794760"/>
            <a:ext cx="2286000" cy="9601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458200" y="3794760"/>
            <a:ext cx="54864" cy="96012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59368" y="3922776"/>
            <a:ext cx="19659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app/app.py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59368" y="4325112"/>
            <a:ext cx="1965960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Presentation layer and demo fallbacks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349240"/>
            <a:ext cx="978408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0">
                <a:solidFill>
                  <a:srgbClr val="94A3B8"/>
                </a:solidFill>
                <a:latin typeface="Aptos"/>
              </a:rPr>
              <a:t>MVC-like organization keeps notebooks, model logic, app integration, and reporting clearly separated.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8BDF8"/>
                </a:solidFill>
                <a:latin typeface="Cascadia Mon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Data preparation created reliable modeling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28800"/>
            <a:ext cx="132588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938528"/>
            <a:ext cx="117957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67712"/>
            <a:ext cx="110642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Hugging Face configs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2212848"/>
            <a:ext cx="502920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34640" y="1828800"/>
            <a:ext cx="132588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07792" y="1938528"/>
            <a:ext cx="117957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Clean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267712"/>
            <a:ext cx="110642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Missing values + text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60520" y="2212848"/>
            <a:ext cx="502920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983480" y="1828800"/>
            <a:ext cx="132588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56632" y="1938528"/>
            <a:ext cx="117957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3208" y="2267712"/>
            <a:ext cx="110642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Reviews + metadata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09360" y="2212848"/>
            <a:ext cx="502920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32320" y="1828800"/>
            <a:ext cx="132588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05472" y="1938528"/>
            <a:ext cx="117957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Engineer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2048" y="2267712"/>
            <a:ext cx="110642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Length, price, images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58200" y="2212848"/>
            <a:ext cx="502920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81160" y="1828800"/>
            <a:ext cx="132588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54312" y="1938528"/>
            <a:ext cx="117957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Split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0888" y="2267712"/>
            <a:ext cx="110642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By product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03320"/>
            <a:ext cx="8138160" cy="1508760"/>
          </a:xfrm>
          <a:prstGeom prst="rect">
            <a:avLst/>
          </a:prstGeom>
          <a:noFill/>
        </p:spPr>
        <p:txBody>
          <a:bodyPr wrap="none" lIns="73152" tIns="36576" rIns="54864" bIns="36576">
            <a:spAutoFit/>
          </a:bodyPr>
          <a:lstStyle/>
          <a:p>
            <a:pPr marL="228600" indent="-114300">
              <a:spcAft>
                <a:spcPts val="700"/>
              </a:spcAft>
              <a:defRPr sz="1700">
                <a:solidFill>
                  <a:srgbClr val="ECF4FF"/>
                </a:solidFill>
                <a:latin typeface="Aptos"/>
              </a:defRPr>
            </a:pPr>
            <a:r>
              <a:t>Maximum local subset: 30,000 reviews and 10,000 products</a:t>
            </a:r>
          </a:p>
          <a:p>
            <a:pPr marL="228600" indent="-114300">
              <a:spcAft>
                <a:spcPts val="700"/>
              </a:spcAft>
              <a:defRPr sz="1700">
                <a:solidFill>
                  <a:srgbClr val="ECF4FF"/>
                </a:solidFill>
                <a:latin typeface="Aptos"/>
              </a:defRPr>
            </a:pPr>
            <a:r>
              <a:t>EDA plots: rating distribution, price distribution, review length, missing values, image availability</a:t>
            </a:r>
          </a:p>
          <a:p>
            <a:pPr marL="228600" indent="-114300">
              <a:spcAft>
                <a:spcPts val="700"/>
              </a:spcAft>
              <a:defRPr sz="1700">
                <a:solidFill>
                  <a:srgbClr val="ECF4FF"/>
                </a:solidFill>
                <a:latin typeface="Aptos"/>
              </a:defRPr>
            </a:pPr>
            <a:r>
              <a:t>Final outputs: train.csv, validation.csv, test.csv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3703320"/>
            <a:ext cx="2103120" cy="14173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98280" y="3703320"/>
            <a:ext cx="54864" cy="14173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99448" y="3831335"/>
            <a:ext cx="17830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9448" y="4233672"/>
            <a:ext cx="1783079" cy="80637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Reliable data preparation makes every later milestone easier to evaluate and debug.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scadia Mono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Tabular baselines established a structured-data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17320"/>
            <a:ext cx="3108960" cy="132588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1417320"/>
            <a:ext cx="54864" cy="13258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1545336"/>
            <a:ext cx="278892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735095"/>
            <a:ext cx="2807208" cy="96795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34D399"/>
                </a:solidFill>
                <a:latin typeface="Aptos"/>
              </a:rPr>
              <a:t>Price</a:t>
            </a:r>
            <a:br>
              <a:rPr dirty="0">
                <a:solidFill>
                  <a:srgbClr val="34D399"/>
                </a:solidFill>
              </a:rPr>
            </a:br>
            <a:r>
              <a:rPr sz="1200" dirty="0">
                <a:solidFill>
                  <a:srgbClr val="34D399"/>
                </a:solidFill>
              </a:rPr>
              <a:t>Rating count</a:t>
            </a:r>
            <a:br>
              <a:rPr sz="1200" dirty="0">
                <a:solidFill>
                  <a:srgbClr val="34D399"/>
                </a:solidFill>
              </a:rPr>
            </a:br>
            <a:r>
              <a:rPr sz="1200" dirty="0">
                <a:solidFill>
                  <a:srgbClr val="34D399"/>
                </a:solidFill>
              </a:rPr>
              <a:t>Review length</a:t>
            </a:r>
            <a:br>
              <a:rPr sz="1200" dirty="0">
                <a:solidFill>
                  <a:srgbClr val="34D399"/>
                </a:solidFill>
              </a:rPr>
            </a:br>
            <a:r>
              <a:rPr sz="1200" dirty="0">
                <a:solidFill>
                  <a:srgbClr val="34D399"/>
                </a:solidFill>
              </a:rPr>
              <a:t>Image availability</a:t>
            </a:r>
            <a:br>
              <a:rPr sz="1200" dirty="0">
                <a:solidFill>
                  <a:srgbClr val="34D399"/>
                </a:solidFill>
              </a:rPr>
            </a:br>
            <a:r>
              <a:rPr sz="1200" dirty="0">
                <a:solidFill>
                  <a:srgbClr val="34D399"/>
                </a:solidFill>
              </a:rPr>
              <a:t>Helpful votes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417320"/>
            <a:ext cx="2926080" cy="132588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0520" y="1417320"/>
            <a:ext cx="54864" cy="13258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61688" y="1545336"/>
            <a:ext cx="26060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1947672"/>
            <a:ext cx="2101986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38BDF8"/>
                </a:solidFill>
                <a:latin typeface="Aptos"/>
              </a:rPr>
              <a:t>Logistic Regression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Imputation + scaling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Fast and interpretable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1417320"/>
            <a:ext cx="2926080" cy="132588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06640" y="1417320"/>
            <a:ext cx="54864" cy="13258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07808" y="1545336"/>
            <a:ext cx="26060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Neural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1947672"/>
            <a:ext cx="1817036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A78BFA"/>
                </a:solidFill>
                <a:latin typeface="Aptos"/>
              </a:rPr>
              <a:t>TensorFlow/</a:t>
            </a:r>
            <a:r>
              <a:rPr sz="1250" b="0" dirty="0" err="1">
                <a:solidFill>
                  <a:srgbClr val="A78BFA"/>
                </a:solidFill>
                <a:latin typeface="Aptos"/>
              </a:rPr>
              <a:t>Keras</a:t>
            </a:r>
            <a:r>
              <a:rPr sz="1250" b="0" dirty="0">
                <a:solidFill>
                  <a:srgbClr val="A78BFA"/>
                </a:solidFill>
                <a:latin typeface="Aptos"/>
              </a:rPr>
              <a:t> MLP</a:t>
            </a:r>
            <a:br>
              <a:rPr dirty="0">
                <a:solidFill>
                  <a:srgbClr val="A78BFA"/>
                </a:solidFill>
              </a:rPr>
            </a:br>
            <a:r>
              <a:rPr dirty="0" err="1">
                <a:solidFill>
                  <a:srgbClr val="A78BFA"/>
                </a:solidFill>
              </a:rPr>
              <a:t>ReLU</a:t>
            </a:r>
            <a:r>
              <a:rPr dirty="0">
                <a:solidFill>
                  <a:srgbClr val="A78BFA"/>
                </a:solidFill>
              </a:rPr>
              <a:t> hidden layers</a:t>
            </a:r>
            <a:br>
              <a:rPr dirty="0">
                <a:solidFill>
                  <a:srgbClr val="A78BFA"/>
                </a:solidFill>
              </a:rPr>
            </a:br>
            <a:r>
              <a:rPr dirty="0">
                <a:solidFill>
                  <a:srgbClr val="A78BFA"/>
                </a:solidFill>
              </a:rPr>
              <a:t>Dropout + </a:t>
            </a:r>
            <a:r>
              <a:rPr dirty="0" err="1">
                <a:solidFill>
                  <a:srgbClr val="A78BFA"/>
                </a:solidFill>
              </a:rPr>
              <a:t>softmax</a:t>
            </a:r>
            <a:endParaRPr dirty="0">
              <a:solidFill>
                <a:srgbClr val="A78BF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672" y="3401568"/>
            <a:ext cx="2560320" cy="29260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ptos"/>
              </a:rPr>
              <a:t>Evaluation workflow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81304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Classification report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67128" y="3831336"/>
            <a:ext cx="324612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167128" y="3831336"/>
            <a:ext cx="3246120" cy="14630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0" y="379476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24738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Confusion matrix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67128" y="4265676"/>
            <a:ext cx="324612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167128" y="4265676"/>
            <a:ext cx="3246120" cy="14630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03520" y="422910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Learning curves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67128" y="4700016"/>
            <a:ext cx="324612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167128" y="4700016"/>
            <a:ext cx="2434589" cy="14630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03520" y="466344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116068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Error analysis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67128" y="5134356"/>
            <a:ext cx="324612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167128" y="5134356"/>
            <a:ext cx="2434589" cy="14630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0" y="5097780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3977639"/>
            <a:ext cx="4434840" cy="96026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2000" b="1" dirty="0">
                <a:solidFill>
                  <a:srgbClr val="FFFFFF"/>
                </a:solidFill>
                <a:latin typeface="Aptos"/>
              </a:rPr>
              <a:t>Milestone 1 answers: how far can metadata alone go before we add text and image signals?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B82F6"/>
                </a:solidFill>
                <a:latin typeface="Cascadia Mono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Transfer learning made image analysis practical on small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828800"/>
            <a:ext cx="141732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2" y="1938528"/>
            <a:ext cx="127101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Image URLs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267712"/>
            <a:ext cx="119786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safe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1828800"/>
            <a:ext cx="141732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70632" y="1938528"/>
            <a:ext cx="127101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267712"/>
            <a:ext cx="119786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data/images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1353312"/>
            <a:ext cx="160020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90872" y="1463040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Small CNN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792224"/>
            <a:ext cx="138074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from scratch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331720"/>
            <a:ext cx="160020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90872" y="2441448"/>
            <a:ext cx="145389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MobileNetV2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2770632"/>
            <a:ext cx="138074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transfer learning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1828800"/>
            <a:ext cx="1508760" cy="77724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93992" y="1938528"/>
            <a:ext cx="136245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2267712"/>
            <a:ext cx="1289304" cy="27431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metrics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194560" y="2212848"/>
            <a:ext cx="502920" cy="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114800" y="1737360"/>
            <a:ext cx="502920" cy="475488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14800" y="2212848"/>
            <a:ext cx="502920" cy="50292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0" y="1737360"/>
            <a:ext cx="502920" cy="475488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217920" y="2212848"/>
            <a:ext cx="502920" cy="502920"/>
          </a:xfrm>
          <a:prstGeom prst="line">
            <a:avLst/>
          </a:prstGeom>
          <a:ln w="17780">
            <a:solidFill>
              <a:srgbClr val="5F77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915400" y="1353312"/>
            <a:ext cx="2057400" cy="1874519"/>
          </a:xfrm>
          <a:prstGeom prst="roundRect">
            <a:avLst/>
          </a:prstGeom>
          <a:solidFill>
            <a:srgbClr val="081220"/>
          </a:solidFill>
          <a:ln w="12700">
            <a:solidFill>
              <a:srgbClr val="304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915400" y="1353312"/>
            <a:ext cx="2057400" cy="347472"/>
          </a:xfrm>
          <a:prstGeom prst="rect">
            <a:avLst/>
          </a:prstGeom>
          <a:solidFill>
            <a:srgbClr val="12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79992" y="1444752"/>
            <a:ext cx="1783080" cy="1645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Aptos"/>
              </a:rPr>
              <a:t>Image preview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1947672"/>
            <a:ext cx="1600200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44000" y="2286000"/>
            <a:ext cx="1600200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144000" y="2624328"/>
            <a:ext cx="1600200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497312" y="1426464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2834639"/>
            <a:ext cx="160020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Aptos"/>
              </a:rPr>
              <a:t>Screenshot placeholder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60520"/>
            <a:ext cx="9052560" cy="1097280"/>
          </a:xfrm>
          <a:prstGeom prst="rect">
            <a:avLst/>
          </a:prstGeom>
          <a:noFill/>
        </p:spPr>
        <p:txBody>
          <a:bodyPr wrap="none" lIns="73152" tIns="36576" rIns="54864" bIns="36576">
            <a:spAutoFit/>
          </a:bodyPr>
          <a:lstStyle/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Limits: up to 1,000 train images, 300 validation, 300 test</a:t>
            </a:r>
          </a:p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Broken image URLs are skipped safely</a:t>
            </a:r>
          </a:p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Outputs include accuracy, macro-F1, confusion matrix, and sample predictions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Cascadia Mono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Text modeling enabled both classification and product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17320"/>
            <a:ext cx="4297680" cy="150876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1417320"/>
            <a:ext cx="54864" cy="150876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" y="1545336"/>
            <a:ext cx="39776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Part A: Text 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47672"/>
            <a:ext cx="4240328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A78BFA"/>
                </a:solidFill>
                <a:latin typeface="Aptos"/>
              </a:rPr>
              <a:t>TF-IDF + Logistic Regression baseline</a:t>
            </a:r>
            <a:br>
              <a:rPr dirty="0">
                <a:solidFill>
                  <a:srgbClr val="A78BFA"/>
                </a:solidFill>
              </a:rPr>
            </a:br>
            <a:r>
              <a:rPr dirty="0" err="1">
                <a:solidFill>
                  <a:srgbClr val="A78BFA"/>
                </a:solidFill>
              </a:rPr>
              <a:t>Keras</a:t>
            </a:r>
            <a:r>
              <a:rPr dirty="0">
                <a:solidFill>
                  <a:srgbClr val="A78BFA"/>
                </a:solidFill>
              </a:rPr>
              <a:t> </a:t>
            </a:r>
            <a:r>
              <a:rPr dirty="0" err="1">
                <a:solidFill>
                  <a:srgbClr val="A78BFA"/>
                </a:solidFill>
              </a:rPr>
              <a:t>TextVectorization</a:t>
            </a:r>
            <a:r>
              <a:rPr dirty="0">
                <a:solidFill>
                  <a:srgbClr val="A78BFA"/>
                </a:solidFill>
              </a:rPr>
              <a:t> + Embedding model</a:t>
            </a:r>
            <a:br>
              <a:rPr dirty="0">
                <a:solidFill>
                  <a:srgbClr val="A78BFA"/>
                </a:solidFill>
              </a:rPr>
            </a:br>
            <a:r>
              <a:rPr dirty="0">
                <a:solidFill>
                  <a:srgbClr val="A78BFA"/>
                </a:solidFill>
              </a:rPr>
              <a:t>Accuracy, macro-F1, report, confusion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1417320"/>
            <a:ext cx="4297680" cy="150876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32120" y="1417320"/>
            <a:ext cx="54864" cy="1508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33288" y="1545336"/>
            <a:ext cx="39776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Part B: Similar Product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947672"/>
            <a:ext cx="2951385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38BDF8"/>
                </a:solidFill>
                <a:latin typeface="Aptos"/>
              </a:rPr>
              <a:t>Product-level search text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TF-IDF vectors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Cosine similarity top-k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49039"/>
            <a:ext cx="18288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Example query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160520"/>
            <a:ext cx="4572000" cy="594360"/>
          </a:xfrm>
          <a:prstGeom prst="roundRect">
            <a:avLst/>
          </a:prstGeom>
          <a:solidFill>
            <a:srgbClr val="0C1E34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78992" y="4343400"/>
            <a:ext cx="4160520" cy="21031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0">
                <a:solidFill>
                  <a:srgbClr val="38BDF8"/>
                </a:solidFill>
                <a:latin typeface="Cascadia Mono"/>
              </a:rPr>
              <a:t>gentle moisturizer for sensitive skin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4069080"/>
            <a:ext cx="1051560" cy="50292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88152" y="4178808"/>
            <a:ext cx="905255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Query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4069080"/>
            <a:ext cx="1051560" cy="50292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05472" y="4178808"/>
            <a:ext cx="905255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TF-IDF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4069080"/>
            <a:ext cx="1051560" cy="502920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2792" y="4178808"/>
            <a:ext cx="905255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Top 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766560" y="4325112"/>
            <a:ext cx="365760" cy="0"/>
          </a:xfrm>
          <a:prstGeom prst="line">
            <a:avLst/>
          </a:prstGeom>
          <a:ln w="1778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183879" y="4325112"/>
            <a:ext cx="365761" cy="0"/>
          </a:xfrm>
          <a:prstGeom prst="line">
            <a:avLst/>
          </a:prstGeom>
          <a:ln w="1778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A78BFA"/>
                </a:solidFill>
                <a:latin typeface="Cascadia Mono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DistilBERT added contextual language 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81328"/>
            <a:ext cx="2743200" cy="11887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1481328"/>
            <a:ext cx="54864" cy="1188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1609344"/>
            <a:ext cx="24231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883732"/>
            <a:ext cx="2468880" cy="78329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38BDF8"/>
                </a:solidFill>
                <a:latin typeface="Aptos"/>
              </a:rPr>
              <a:t>TF-IDF + Logistic Regression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Fast, interpretable comparison 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1481328"/>
            <a:ext cx="2743200" cy="11887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749039" y="1481328"/>
            <a:ext cx="54864" cy="11887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50207" y="1609344"/>
            <a:ext cx="24231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Transformer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8559" y="1856232"/>
            <a:ext cx="2425664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 err="1">
                <a:solidFill>
                  <a:srgbClr val="A78BFA"/>
                </a:solidFill>
                <a:latin typeface="Aptos"/>
              </a:rPr>
              <a:t>DistilBERT</a:t>
            </a:r>
            <a:br>
              <a:rPr dirty="0">
                <a:solidFill>
                  <a:srgbClr val="A78BFA"/>
                </a:solidFill>
              </a:rPr>
            </a:br>
            <a:r>
              <a:rPr dirty="0" err="1">
                <a:solidFill>
                  <a:srgbClr val="A78BFA"/>
                </a:solidFill>
              </a:rPr>
              <a:t>distilbert</a:t>
            </a:r>
            <a:r>
              <a:rPr dirty="0">
                <a:solidFill>
                  <a:srgbClr val="A78BFA"/>
                </a:solidFill>
              </a:rPr>
              <a:t>-base-uncased</a:t>
            </a:r>
            <a:br>
              <a:rPr dirty="0">
                <a:solidFill>
                  <a:srgbClr val="A78BFA"/>
                </a:solidFill>
              </a:rPr>
            </a:br>
            <a:r>
              <a:rPr dirty="0">
                <a:solidFill>
                  <a:srgbClr val="A78BFA"/>
                </a:solidFill>
              </a:rPr>
              <a:t>Rating-band classification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1481328"/>
            <a:ext cx="2743200" cy="118872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66560" y="1481328"/>
            <a:ext cx="54864" cy="1188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67728" y="1609344"/>
            <a:ext cx="24231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6580" y="1920240"/>
            <a:ext cx="2308860" cy="78329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34D399"/>
                </a:solidFill>
                <a:latin typeface="Aptos"/>
              </a:rPr>
              <a:t>Frozen transformer embeddings</a:t>
            </a:r>
            <a:br>
              <a:rPr dirty="0">
                <a:solidFill>
                  <a:srgbClr val="34D399"/>
                </a:solidFill>
              </a:rPr>
            </a:br>
            <a:r>
              <a:rPr dirty="0">
                <a:solidFill>
                  <a:srgbClr val="34D399"/>
                </a:solidFill>
              </a:rPr>
              <a:t>+ Logistic Regression if fine-tuning fails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3474720"/>
            <a:ext cx="256032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ptos"/>
              </a:rPr>
              <a:t>Evaluation 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886200"/>
            <a:ext cx="4389120" cy="1508760"/>
          </a:xfrm>
          <a:prstGeom prst="rect">
            <a:avLst/>
          </a:prstGeom>
          <a:noFill/>
        </p:spPr>
        <p:txBody>
          <a:bodyPr wrap="none" lIns="73152" tIns="36576" rIns="54864" bIns="36576">
            <a:spAutoFit/>
          </a:bodyPr>
          <a:lstStyle/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Accuracy and macro-F1</a:t>
            </a:r>
          </a:p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Classification report</a:t>
            </a:r>
          </a:p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Confusion matrix</a:t>
            </a:r>
          </a:p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Latency comparison</a:t>
            </a:r>
          </a:p>
          <a:p>
            <a:pPr marL="228600" indent="-114300">
              <a:spcAft>
                <a:spcPts val="700"/>
              </a:spcAft>
              <a:defRPr sz="1600">
                <a:solidFill>
                  <a:srgbClr val="ECF4FF"/>
                </a:solidFill>
                <a:latin typeface="Aptos"/>
              </a:defRPr>
            </a:pPr>
            <a:r>
              <a:t>Short error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794760"/>
            <a:ext cx="22860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ptos"/>
              </a:rPr>
              <a:t>Why DistilBERT?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187952"/>
            <a:ext cx="3840480" cy="108337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700" b="0" dirty="0">
                <a:solidFill>
                  <a:srgbClr val="94A3B8"/>
                </a:solidFill>
                <a:latin typeface="Aptos"/>
              </a:rPr>
              <a:t>It provides contextual review representations while staying lighter than full BERT for local capstone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8BDF8"/>
                </a:solidFill>
                <a:latin typeface="Cascadia Mon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RAG grounded review answers in retrieved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1508760" cy="749808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1847088"/>
            <a:ext cx="136245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Aggregate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176272"/>
            <a:ext cx="1289304" cy="24688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product-level reviews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31720" y="2112264"/>
            <a:ext cx="365759" cy="0"/>
          </a:xfrm>
          <a:prstGeom prst="line">
            <a:avLst/>
          </a:prstGeom>
          <a:ln w="1778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063240" y="1737360"/>
            <a:ext cx="1508760" cy="749808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36392" y="1847088"/>
            <a:ext cx="136245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Retrieve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2176272"/>
            <a:ext cx="1289304" cy="24688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top 5 chunks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112264"/>
            <a:ext cx="365760" cy="0"/>
          </a:xfrm>
          <a:prstGeom prst="line">
            <a:avLst/>
          </a:prstGeom>
          <a:ln w="1778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03520" y="1737360"/>
            <a:ext cx="1508760" cy="749808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76672" y="1847088"/>
            <a:ext cx="136245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Generate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2176272"/>
            <a:ext cx="1289304" cy="24688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LLM answer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12280" y="2112264"/>
            <a:ext cx="365760" cy="0"/>
          </a:xfrm>
          <a:prstGeom prst="line">
            <a:avLst/>
          </a:prstGeom>
          <a:ln w="1778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43800" y="1737360"/>
            <a:ext cx="1508760" cy="749808"/>
          </a:xfrm>
          <a:prstGeom prst="roundRect">
            <a:avLst/>
          </a:prstGeom>
          <a:solidFill>
            <a:srgbClr val="0B1A2D"/>
          </a:solidFill>
          <a:ln w="1778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16952" y="1847088"/>
            <a:ext cx="1362456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3527" y="2176272"/>
            <a:ext cx="1289304" cy="24688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0">
                <a:solidFill>
                  <a:srgbClr val="94A3B8"/>
                </a:solidFill>
                <a:latin typeface="Aptos"/>
              </a:rPr>
              <a:t>evidence + risk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246120"/>
            <a:ext cx="2926080" cy="12344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" y="3246120"/>
            <a:ext cx="54864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" y="3374136"/>
            <a:ext cx="26060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Summaries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3776472"/>
            <a:ext cx="2499055" cy="78329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34D399"/>
                </a:solidFill>
                <a:latin typeface="Aptos"/>
              </a:rPr>
              <a:t>Pros</a:t>
            </a:r>
            <a:br>
              <a:rPr dirty="0">
                <a:solidFill>
                  <a:srgbClr val="34D399"/>
                </a:solidFill>
              </a:rPr>
            </a:br>
            <a:r>
              <a:rPr dirty="0">
                <a:solidFill>
                  <a:srgbClr val="34D399"/>
                </a:solidFill>
              </a:rPr>
              <a:t>Cons</a:t>
            </a:r>
            <a:br>
              <a:rPr dirty="0">
                <a:solidFill>
                  <a:srgbClr val="34D399"/>
                </a:solidFill>
              </a:rPr>
            </a:br>
            <a:r>
              <a:rPr dirty="0">
                <a:solidFill>
                  <a:srgbClr val="34D399"/>
                </a:solidFill>
              </a:rPr>
              <a:t>Short product summary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60520" y="3246120"/>
            <a:ext cx="2926080" cy="12344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60520" y="3246120"/>
            <a:ext cx="54864" cy="12344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61688" y="3374136"/>
            <a:ext cx="26060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LLM Options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3776472"/>
            <a:ext cx="2356414" cy="77559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600" b="0" dirty="0">
                <a:solidFill>
                  <a:srgbClr val="A78BFA"/>
                </a:solidFill>
                <a:latin typeface="Aptos"/>
              </a:rPr>
              <a:t>google/flan-t5-small</a:t>
            </a:r>
            <a:br>
              <a:rPr sz="1600" dirty="0">
                <a:solidFill>
                  <a:srgbClr val="A78BFA"/>
                </a:solidFill>
              </a:rPr>
            </a:br>
            <a:r>
              <a:rPr sz="1600" dirty="0" err="1">
                <a:solidFill>
                  <a:srgbClr val="A78BFA"/>
                </a:solidFill>
              </a:rPr>
              <a:t>facebook</a:t>
            </a:r>
            <a:r>
              <a:rPr sz="1600" dirty="0">
                <a:solidFill>
                  <a:srgbClr val="A78BFA"/>
                </a:solidFill>
              </a:rPr>
              <a:t>/</a:t>
            </a:r>
            <a:r>
              <a:rPr sz="1600" dirty="0" err="1">
                <a:solidFill>
                  <a:srgbClr val="A78BFA"/>
                </a:solidFill>
              </a:rPr>
              <a:t>bart</a:t>
            </a:r>
            <a:r>
              <a:rPr sz="1600" dirty="0">
                <a:solidFill>
                  <a:srgbClr val="A78BFA"/>
                </a:solidFill>
              </a:rPr>
              <a:t>-base fallback</a:t>
            </a:r>
            <a:br>
              <a:rPr sz="1600" dirty="0">
                <a:solidFill>
                  <a:srgbClr val="A78BFA"/>
                </a:solidFill>
              </a:rPr>
            </a:br>
            <a:r>
              <a:rPr sz="1600" dirty="0">
                <a:solidFill>
                  <a:srgbClr val="A78BFA"/>
                </a:solidFill>
              </a:rPr>
              <a:t>prompt-template fallback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246120"/>
            <a:ext cx="2926080" cy="12344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452360" y="3246120"/>
            <a:ext cx="54864" cy="1234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53528" y="3374136"/>
            <a:ext cx="26060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Grounding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9811" y="3568367"/>
            <a:ext cx="2606039" cy="77559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600" b="0" dirty="0">
                <a:solidFill>
                  <a:srgbClr val="38BDF8"/>
                </a:solidFill>
                <a:latin typeface="Aptos"/>
              </a:rPr>
              <a:t>Answer</a:t>
            </a:r>
            <a:br>
              <a:rPr sz="1600" dirty="0">
                <a:solidFill>
                  <a:srgbClr val="38BDF8"/>
                </a:solidFill>
              </a:rPr>
            </a:br>
            <a:r>
              <a:rPr sz="1600" dirty="0">
                <a:solidFill>
                  <a:srgbClr val="38BDF8"/>
                </a:solidFill>
              </a:rPr>
              <a:t>Confidence score</a:t>
            </a:r>
            <a:br>
              <a:rPr sz="1600" dirty="0">
                <a:solidFill>
                  <a:srgbClr val="38BDF8"/>
                </a:solidFill>
              </a:rPr>
            </a:br>
            <a:r>
              <a:rPr sz="1600" dirty="0">
                <a:solidFill>
                  <a:srgbClr val="38BDF8"/>
                </a:solidFill>
              </a:rPr>
              <a:t>Retrieved evidence snippets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349240"/>
            <a:ext cx="9418320" cy="29260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600" b="0">
                <a:solidFill>
                  <a:srgbClr val="94A3B8"/>
                </a:solidFill>
                <a:latin typeface="Aptos"/>
              </a:rPr>
              <a:t>RAG reduces hallucination risk by forcing the answer to use retrieved review context.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FBBF24"/>
                </a:solidFill>
                <a:latin typeface="Cascadia Mon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Stable Diffusion explored product image ideation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17320"/>
            <a:ext cx="2788920" cy="12344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1417320"/>
            <a:ext cx="54864" cy="12344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" y="1545336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Prompt Inputs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47672"/>
            <a:ext cx="2468879" cy="78329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FBBF24"/>
                </a:solidFill>
                <a:latin typeface="Aptos"/>
              </a:rPr>
              <a:t>Product title</a:t>
            </a:r>
            <a:br>
              <a:rPr dirty="0">
                <a:solidFill>
                  <a:srgbClr val="FBBF24"/>
                </a:solidFill>
              </a:rPr>
            </a:br>
            <a:r>
              <a:rPr dirty="0">
                <a:solidFill>
                  <a:srgbClr val="FBBF24"/>
                </a:solidFill>
              </a:rPr>
              <a:t>Description</a:t>
            </a:r>
            <a:br>
              <a:rPr dirty="0">
                <a:solidFill>
                  <a:srgbClr val="FBBF24"/>
                </a:solidFill>
              </a:rPr>
            </a:br>
            <a:r>
              <a:rPr dirty="0">
                <a:solidFill>
                  <a:srgbClr val="FBBF24"/>
                </a:solidFill>
              </a:rPr>
              <a:t>Category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1417320"/>
            <a:ext cx="2788920" cy="12344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86200" y="1417320"/>
            <a:ext cx="54864" cy="12344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87368" y="1545336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Model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7368" y="1947672"/>
            <a:ext cx="2472985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A78BFA"/>
                </a:solidFill>
                <a:latin typeface="Aptos"/>
              </a:rPr>
              <a:t>Stable Diffusion v1.5</a:t>
            </a:r>
            <a:br>
              <a:rPr dirty="0">
                <a:solidFill>
                  <a:srgbClr val="A78BFA"/>
                </a:solidFill>
              </a:rPr>
            </a:br>
            <a:r>
              <a:rPr dirty="0">
                <a:solidFill>
                  <a:srgbClr val="A78BFA"/>
                </a:solidFill>
              </a:rPr>
              <a:t>Fallback: tiny SD pipeline</a:t>
            </a:r>
            <a:br>
              <a:rPr dirty="0">
                <a:solidFill>
                  <a:srgbClr val="A78BFA"/>
                </a:solidFill>
              </a:rPr>
            </a:br>
            <a:r>
              <a:rPr dirty="0">
                <a:solidFill>
                  <a:srgbClr val="A78BFA"/>
                </a:solidFill>
              </a:rPr>
              <a:t>FAST_MODE for local runs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417320"/>
            <a:ext cx="2788920" cy="12344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995160" y="1417320"/>
            <a:ext cx="54864" cy="1234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96328" y="1545336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947672"/>
            <a:ext cx="2108141" cy="78329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 dirty="0">
                <a:solidFill>
                  <a:srgbClr val="38BDF8"/>
                </a:solidFill>
                <a:latin typeface="Aptos"/>
              </a:rPr>
              <a:t>Original product photo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Lifestyle variation</a:t>
            </a:r>
            <a:br>
              <a:rPr dirty="0">
                <a:solidFill>
                  <a:srgbClr val="38BDF8"/>
                </a:solidFill>
              </a:rPr>
            </a:br>
            <a:r>
              <a:rPr dirty="0">
                <a:solidFill>
                  <a:srgbClr val="38BDF8"/>
                </a:solidFill>
              </a:rPr>
              <a:t>Marketing hero image</a:t>
            </a:r>
          </a:p>
        </p:txBody>
      </p:sp>
      <p:pic>
        <p:nvPicPr>
          <p:cNvPr id="22" name="Picture 21" descr="b08bbq29n5_lifestyle_var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37560"/>
            <a:ext cx="2423160" cy="1508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400" y="4965192"/>
            <a:ext cx="242316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Aptos"/>
              </a:rPr>
              <a:t>Original</a:t>
            </a:r>
          </a:p>
        </p:txBody>
      </p:sp>
      <p:pic>
        <p:nvPicPr>
          <p:cNvPr id="24" name="Picture 23" descr="b08bbq29n5_marketing_hero_vari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39" y="3337560"/>
            <a:ext cx="2423160" cy="1508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977639" y="4965192"/>
            <a:ext cx="242316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Aptos"/>
              </a:rPr>
              <a:t>Lifestyle</a:t>
            </a:r>
          </a:p>
        </p:txBody>
      </p:sp>
      <p:pic>
        <p:nvPicPr>
          <p:cNvPr id="26" name="Picture 25" descr="b08bbq29n5_original_prom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337560"/>
            <a:ext cx="2423160" cy="1508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0880" y="4965192"/>
            <a:ext cx="242316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Aptos"/>
              </a:rPr>
              <a:t>Hero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650992"/>
            <a:ext cx="941832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450" b="0">
                <a:solidFill>
                  <a:srgbClr val="94A3B8"/>
                </a:solidFill>
                <a:latin typeface="Aptos"/>
              </a:rPr>
              <a:t>Failure modes: invented packaging, incorrect labels, unrealistic claims, and CPU runtime limits.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FB7185"/>
                </a:solidFill>
                <a:latin typeface="Cascadia Mono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MILESTONE 7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The Gradio demo connects every milestone into one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08760"/>
            <a:ext cx="1874519" cy="1508760"/>
          </a:xfrm>
          <a:prstGeom prst="roundRect">
            <a:avLst/>
          </a:prstGeom>
          <a:solidFill>
            <a:srgbClr val="081220"/>
          </a:solidFill>
          <a:ln w="12700">
            <a:solidFill>
              <a:srgbClr val="304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" y="1508760"/>
            <a:ext cx="1874519" cy="347472"/>
          </a:xfrm>
          <a:prstGeom prst="rect">
            <a:avLst/>
          </a:prstGeom>
          <a:solidFill>
            <a:srgbClr val="12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" y="1600200"/>
            <a:ext cx="1600199" cy="1645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Aptos"/>
              </a:rPr>
              <a:t>Predicted Rating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103120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441448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" y="2779776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993391" y="1581912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2624327"/>
            <a:ext cx="1417319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Aptos"/>
              </a:rPr>
              <a:t>Screenshot placeholder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1508760"/>
            <a:ext cx="1874519" cy="1508760"/>
          </a:xfrm>
          <a:prstGeom prst="roundRect">
            <a:avLst/>
          </a:prstGeom>
          <a:solidFill>
            <a:srgbClr val="081220"/>
          </a:solidFill>
          <a:ln w="12700">
            <a:solidFill>
              <a:srgbClr val="304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834640" y="1508760"/>
            <a:ext cx="1874519" cy="347472"/>
          </a:xfrm>
          <a:prstGeom prst="rect">
            <a:avLst/>
          </a:prstGeom>
          <a:solidFill>
            <a:srgbClr val="12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99232" y="1600200"/>
            <a:ext cx="1600199" cy="1645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Aptos"/>
              </a:rPr>
              <a:t>Image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3240" y="2103120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063240" y="2441448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063240" y="2779776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33672" y="158191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40" y="2624327"/>
            <a:ext cx="1417319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Aptos"/>
              </a:rPr>
              <a:t>Screenshot placeholder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1508760"/>
            <a:ext cx="1874519" cy="1508760"/>
          </a:xfrm>
          <a:prstGeom prst="roundRect">
            <a:avLst/>
          </a:prstGeom>
          <a:solidFill>
            <a:srgbClr val="081220"/>
          </a:solidFill>
          <a:ln w="12700">
            <a:solidFill>
              <a:srgbClr val="304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74920" y="1508760"/>
            <a:ext cx="1874519" cy="347472"/>
          </a:xfrm>
          <a:prstGeom prst="rect">
            <a:avLst/>
          </a:prstGeom>
          <a:solidFill>
            <a:srgbClr val="12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39512" y="1600200"/>
            <a:ext cx="1600199" cy="1645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Aptos"/>
              </a:rPr>
              <a:t>Similar Products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2103120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303520" y="2441448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303520" y="2779776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73952" y="1581912"/>
            <a:ext cx="146304" cy="14630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03520" y="2624327"/>
            <a:ext cx="1417319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Aptos"/>
              </a:rPr>
              <a:t>Screenshot placeholder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508760"/>
            <a:ext cx="1874519" cy="1508760"/>
          </a:xfrm>
          <a:prstGeom prst="roundRect">
            <a:avLst/>
          </a:prstGeom>
          <a:solidFill>
            <a:srgbClr val="081220"/>
          </a:solidFill>
          <a:ln w="12700">
            <a:solidFill>
              <a:srgbClr val="304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315200" y="1508760"/>
            <a:ext cx="1874519" cy="347472"/>
          </a:xfrm>
          <a:prstGeom prst="rect">
            <a:avLst/>
          </a:prstGeom>
          <a:solidFill>
            <a:srgbClr val="12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79792" y="1600200"/>
            <a:ext cx="1600199" cy="1645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Aptos"/>
              </a:rPr>
              <a:t>Review Intelligence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43800" y="2103120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543800" y="2441448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543800" y="2779776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714232" y="1581912"/>
            <a:ext cx="146304" cy="14630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43800" y="2624327"/>
            <a:ext cx="1417319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Aptos"/>
              </a:rPr>
              <a:t>Screenshot placeholder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55480" y="1508760"/>
            <a:ext cx="1874519" cy="1508760"/>
          </a:xfrm>
          <a:prstGeom prst="roundRect">
            <a:avLst/>
          </a:prstGeom>
          <a:solidFill>
            <a:srgbClr val="081220"/>
          </a:solidFill>
          <a:ln w="12700">
            <a:solidFill>
              <a:srgbClr val="304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555480" y="1508760"/>
            <a:ext cx="1874519" cy="347472"/>
          </a:xfrm>
          <a:prstGeom prst="rect">
            <a:avLst/>
          </a:prstGeom>
          <a:solidFill>
            <a:srgbClr val="122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720072" y="1600200"/>
            <a:ext cx="1600199" cy="16459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Aptos"/>
              </a:rPr>
              <a:t>AI Image Gen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84080" y="2103120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784080" y="2441448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784080" y="2779776"/>
            <a:ext cx="1417319" cy="109728"/>
          </a:xfrm>
          <a:prstGeom prst="roundRect">
            <a:avLst/>
          </a:prstGeom>
          <a:solidFill>
            <a:srgbClr val="233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0954512" y="1581912"/>
            <a:ext cx="146304" cy="14630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784080" y="2624327"/>
            <a:ext cx="1417319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Aptos"/>
              </a:rPr>
              <a:t>Screenshot placeholder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3703320"/>
            <a:ext cx="13716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ptos"/>
              </a:rPr>
              <a:t>Demo 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4069080"/>
            <a:ext cx="7498079" cy="1508760"/>
          </a:xfrm>
          <a:prstGeom prst="rect">
            <a:avLst/>
          </a:prstGeom>
          <a:noFill/>
        </p:spPr>
        <p:txBody>
          <a:bodyPr wrap="none" lIns="73152" tIns="36576" rIns="54864" bIns="36576">
            <a:spAutoFit/>
          </a:bodyPr>
          <a:lstStyle/>
          <a:p>
            <a:pPr marL="228600" indent="-114300">
              <a:spcAft>
                <a:spcPts val="700"/>
              </a:spcAft>
              <a:defRPr sz="1550">
                <a:solidFill>
                  <a:srgbClr val="ECF4FF"/>
                </a:solidFill>
                <a:latin typeface="Aptos"/>
              </a:defRPr>
            </a:pPr>
            <a:r>
              <a:t>1. Enter product metadata and predict a rating band</a:t>
            </a:r>
          </a:p>
          <a:p>
            <a:pPr marL="228600" indent="-114300">
              <a:spcAft>
                <a:spcPts val="700"/>
              </a:spcAft>
              <a:defRPr sz="1550">
                <a:solidFill>
                  <a:srgbClr val="ECF4FF"/>
                </a:solidFill>
                <a:latin typeface="Aptos"/>
              </a:defRPr>
            </a:pPr>
            <a:r>
              <a:t>2. Upload a product image for category-style analysis</a:t>
            </a:r>
          </a:p>
          <a:p>
            <a:pPr marL="228600" indent="-114300">
              <a:spcAft>
                <a:spcPts val="700"/>
              </a:spcAft>
              <a:defRPr sz="1550">
                <a:solidFill>
                  <a:srgbClr val="ECF4FF"/>
                </a:solidFill>
                <a:latin typeface="Aptos"/>
              </a:defRPr>
            </a:pPr>
            <a:r>
              <a:t>3. Search for similar products using natural language</a:t>
            </a:r>
          </a:p>
          <a:p>
            <a:pPr marL="228600" indent="-114300">
              <a:spcAft>
                <a:spcPts val="700"/>
              </a:spcAft>
              <a:defRPr sz="1550">
                <a:solidFill>
                  <a:srgbClr val="ECF4FF"/>
                </a:solidFill>
                <a:latin typeface="Aptos"/>
              </a:defRPr>
            </a:pPr>
            <a:r>
              <a:t>4. Ask a review question and inspect grounded evidence</a:t>
            </a:r>
          </a:p>
          <a:p>
            <a:pPr marL="228600" indent="-114300">
              <a:spcAft>
                <a:spcPts val="700"/>
              </a:spcAft>
              <a:defRPr sz="1550">
                <a:solidFill>
                  <a:srgbClr val="ECF4FF"/>
                </a:solidFill>
                <a:latin typeface="Aptos"/>
              </a:defRPr>
            </a:pPr>
            <a:r>
              <a:t>5. Generate a hero image concept from product metadata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32520" y="3977639"/>
            <a:ext cx="2240280" cy="114300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732520" y="3977639"/>
            <a:ext cx="54864" cy="1143000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933688" y="4105655"/>
            <a:ext cx="19202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Fallback-first design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42832" y="4425695"/>
            <a:ext cx="1819656" cy="61401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The app stays usable even when trained artifacts are not present.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scadia Mon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The project delivers a complete AI engineering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22860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Aptos"/>
              </a:rPr>
              <a:t>Delivered artifacts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Processed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67128" y="1938528"/>
            <a:ext cx="352044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167128" y="1938528"/>
            <a:ext cx="1508760" cy="146304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1901952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377440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Model notebooks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67128" y="2395728"/>
            <a:ext cx="352044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167128" y="2395728"/>
            <a:ext cx="3520440" cy="146304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77840" y="2359152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834640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App tabs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67128" y="2852928"/>
            <a:ext cx="352044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167128" y="2852928"/>
            <a:ext cx="2514600" cy="146304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77840" y="2816352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291840"/>
            <a:ext cx="1234440" cy="2011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0">
                <a:solidFill>
                  <a:srgbClr val="94A3B8"/>
                </a:solidFill>
                <a:latin typeface="Aptos"/>
              </a:rPr>
              <a:t>Report assets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67128" y="3310128"/>
            <a:ext cx="3520440" cy="146304"/>
          </a:xfrm>
          <a:prstGeom prst="roundRect">
            <a:avLst/>
          </a:prstGeom>
          <a:solidFill>
            <a:srgbClr val="1E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167128" y="3310128"/>
            <a:ext cx="1508760" cy="146304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77840" y="3273552"/>
            <a:ext cx="3200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1417320"/>
            <a:ext cx="4206240" cy="713232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26480" y="1417320"/>
            <a:ext cx="54864" cy="71323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1545336"/>
            <a:ext cx="388620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1725158"/>
            <a:ext cx="3922776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Train, validation, and test splits saved under data/processed/.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2350008"/>
            <a:ext cx="4206240" cy="713232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26480" y="2350008"/>
            <a:ext cx="54864" cy="71323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7648" y="2478024"/>
            <a:ext cx="388620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2674105"/>
            <a:ext cx="3767328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Tabular, vision, text, transformer, RAG, and diffusion workflows.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282696"/>
            <a:ext cx="4206240" cy="713232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126480" y="3282696"/>
            <a:ext cx="54864" cy="7132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27648" y="3410712"/>
            <a:ext cx="388620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3813048"/>
            <a:ext cx="3886200" cy="7315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Five-tab Gradio interface with safe fallbacks.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4215384"/>
            <a:ext cx="4206240" cy="713232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26480" y="4215384"/>
            <a:ext cx="54864" cy="7132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27648" y="4343400"/>
            <a:ext cx="388620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Documentation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4745736"/>
            <a:ext cx="3886200" cy="7315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README, final report, and presentation materials.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349240"/>
            <a:ext cx="950976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450" b="0">
                <a:solidFill>
                  <a:srgbClr val="94A3B8"/>
                </a:solidFill>
                <a:latin typeface="Aptos"/>
              </a:rPr>
              <a:t>Final numeric metrics are produced by running each milestone notebook in the target environment.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FB7185"/>
                </a:solidFill>
                <a:latin typeface="Cascadia Mono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CHALLENGES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Robustness mattered as much as model complexity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2788920" cy="1024128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1554480"/>
            <a:ext cx="54864" cy="10241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1682495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Schema variability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1955449"/>
            <a:ext cx="2414017" cy="61401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Columns can differ across processed files, requiring safe detection.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554480"/>
            <a:ext cx="2788920" cy="1024128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977639" y="1554480"/>
            <a:ext cx="54864" cy="10241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78807" y="1682495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Leakage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7" y="1964594"/>
            <a:ext cx="2414017" cy="61401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Product-level splitting avoids duplicate product signals across splits.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59" y="1554480"/>
            <a:ext cx="2788920" cy="1024128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23759" y="1554480"/>
            <a:ext cx="54864" cy="10241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24927" y="1682495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Runtime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7" y="2084831"/>
            <a:ext cx="2468879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Transformers, vision, and diffusion can be slow on CPU.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35808"/>
            <a:ext cx="2788920" cy="1024128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1520" y="3035808"/>
            <a:ext cx="54864" cy="10241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163824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Missing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18490"/>
            <a:ext cx="2414017" cy="61401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The final app needs fallbacks when trained models are not saved.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3035808"/>
            <a:ext cx="2788920" cy="1024128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977639" y="3035808"/>
            <a:ext cx="54864" cy="1024128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78807" y="3163824"/>
            <a:ext cx="2468879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Generative reliability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7" y="3566160"/>
            <a:ext cx="2441447" cy="42165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LLM and diffusion outputs require grounding and validation.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5059" y="4668730"/>
            <a:ext cx="9820656" cy="5166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500" b="0" dirty="0">
                <a:solidFill>
                  <a:srgbClr val="94A3B8"/>
                </a:solidFill>
                <a:latin typeface="Aptos"/>
              </a:rPr>
              <a:t>Limitation: the repository is designed for capstone execution, so FAST_MODE and local fallbacks prioritize reproducibility over full-scale production performance.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8BDF8"/>
                </a:solidFill>
                <a:latin typeface="Cascadia Mono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FUTURE IMPROVEMENTS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The next step is production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138988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1472184"/>
            <a:ext cx="384048" cy="1371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F172A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371600"/>
            <a:ext cx="310896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Persist model artifacts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45920"/>
            <a:ext cx="740664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Save and version trained models for direct app loading.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2176272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2258568"/>
            <a:ext cx="384048" cy="1371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F172A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157984"/>
            <a:ext cx="310896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Improve retrieval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432304"/>
            <a:ext cx="740664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Add FAISS or Chroma for stronger vector search.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" y="2962656"/>
            <a:ext cx="384048" cy="38404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" y="3044952"/>
            <a:ext cx="384048" cy="1371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F172A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44368"/>
            <a:ext cx="310896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Add experiment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218688"/>
            <a:ext cx="740664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Use MLflow, W&amp;B, or TensorBoard summaries.</a:t>
            </a:r>
          </a:p>
        </p:txBody>
      </p:sp>
      <p:sp>
        <p:nvSpPr>
          <p:cNvPr id="22" name="Oval 21"/>
          <p:cNvSpPr/>
          <p:nvPr/>
        </p:nvSpPr>
        <p:spPr>
          <a:xfrm>
            <a:off x="841248" y="3749039"/>
            <a:ext cx="384048" cy="38404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3831335"/>
            <a:ext cx="384048" cy="1371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F172A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730752"/>
            <a:ext cx="310896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Deploy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005072"/>
            <a:ext cx="740664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Host the Gradio app and add real screenshots/video.</a:t>
            </a:r>
          </a:p>
        </p:txBody>
      </p:sp>
      <p:sp>
        <p:nvSpPr>
          <p:cNvPr id="26" name="Oval 25"/>
          <p:cNvSpPr/>
          <p:nvPr/>
        </p:nvSpPr>
        <p:spPr>
          <a:xfrm>
            <a:off x="841248" y="453542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4617720"/>
            <a:ext cx="384048" cy="1371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F172A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517136"/>
            <a:ext cx="310896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Safety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791456"/>
            <a:ext cx="7406640" cy="21945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250" b="0">
                <a:solidFill>
                  <a:srgbClr val="94A3B8"/>
                </a:solidFill>
                <a:latin typeface="Aptos"/>
              </a:rPr>
              <a:t>Evaluate hallucination and product-claim risk.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2011680"/>
            <a:ext cx="2057400" cy="14630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06840" y="2011680"/>
            <a:ext cx="54864" cy="14630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08008" y="2139696"/>
            <a:ext cx="173736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Portfolio upgrade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8008" y="2542032"/>
            <a:ext cx="1737360" cy="61401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Add screenshots, demo video, deployment URL, and model cards.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3657600" cy="3657600"/>
          </a:xfrm>
          <a:prstGeom prst="ellipse">
            <a:avLst/>
          </a:prstGeom>
          <a:solidFill>
            <a:srgbClr val="1835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097280" y="5029200"/>
            <a:ext cx="2926080" cy="2926080"/>
          </a:xfrm>
          <a:prstGeom prst="ellipse">
            <a:avLst/>
          </a:prstGeom>
          <a:solidFill>
            <a:srgbClr val="2C22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310896"/>
            <a:ext cx="4572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ascadia Mono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"/>
            <a:ext cx="2103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950" b="1">
                <a:solidFill>
                  <a:srgbClr val="94A3B8"/>
                </a:solidFill>
                <a:latin typeface="Aptos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58368"/>
            <a:ext cx="475488" cy="3200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777240"/>
            <a:ext cx="76809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Smart Product Intelligence demonstrates full-stack AI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6519672"/>
            <a:ext cx="4434840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Aptos"/>
              </a:rPr>
              <a:t>Smart Product Intelligence | All_Beauty | Final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81328"/>
            <a:ext cx="274320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 Display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6035040" cy="2011680"/>
          </a:xfrm>
          <a:prstGeom prst="rect">
            <a:avLst/>
          </a:prstGeom>
          <a:noFill/>
        </p:spPr>
        <p:txBody>
          <a:bodyPr wrap="none" lIns="73152" tIns="36576" rIns="54864" bIns="36576">
            <a:spAutoFit/>
          </a:bodyPr>
          <a:lstStyle/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Built a complete multimodal product intelligence pipeline</a:t>
            </a:r>
          </a:p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Combined TensorFlow, DistilBERT, RAG, Stable Diffusion, Transfer Learning, and Gradio</a:t>
            </a:r>
          </a:p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Connected experiments into a final interactive application</a:t>
            </a:r>
          </a:p>
          <a:p>
            <a:pPr marL="228600" indent="-114300">
              <a:spcAft>
                <a:spcPts val="700"/>
              </a:spcAft>
              <a:defRPr sz="1800">
                <a:solidFill>
                  <a:srgbClr val="ECF4FF"/>
                </a:solidFill>
                <a:latin typeface="Aptos"/>
              </a:defRPr>
            </a:pPr>
            <a:r>
              <a:t>Documented results, limitations, lessons learned, and future improvements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645920"/>
            <a:ext cx="2926080" cy="2148840"/>
          </a:xfrm>
          <a:prstGeom prst="roundRect">
            <a:avLst/>
          </a:prstGeom>
          <a:solidFill>
            <a:srgbClr val="102037"/>
          </a:solidFill>
          <a:ln w="12700">
            <a:solidFill>
              <a:srgbClr val="2E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52360" y="1645920"/>
            <a:ext cx="54864" cy="21488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3528" y="1773936"/>
            <a:ext cx="2606040" cy="32004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ptos"/>
              </a:rPr>
              <a:t>Final 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53528" y="2176272"/>
            <a:ext cx="2551174" cy="99873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sz="1250" b="0" dirty="0">
                <a:solidFill>
                  <a:srgbClr val="94A3B8"/>
                </a:solidFill>
                <a:latin typeface="Aptos"/>
              </a:rPr>
              <a:t>This capstone shows practical AI engineering discipline: robust data prep, meaningful baselines, modern models, generative AI, and a clear application layer.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320040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3400" b="1">
                <a:solidFill>
                  <a:srgbClr val="38BDF8"/>
                </a:solidFill>
                <a:latin typeface="Aptos Display"/>
              </a:rPr>
              <a:t>Thank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5376672"/>
            <a:ext cx="201168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sz="1800" b="0">
                <a:solidFill>
                  <a:srgbClr val="94A3B8"/>
                </a:solidFill>
                <a:latin typeface="Aptos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1710</Words>
  <Application>Microsoft Office PowerPoint</Application>
  <PresentationFormat>Geniş ekran</PresentationFormat>
  <Paragraphs>303</Paragraphs>
  <Slides>16</Slides>
  <Notes>16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Cascadia Mono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TAHA GURVARDAR</cp:lastModifiedBy>
  <cp:revision>2</cp:revision>
  <dcterms:created xsi:type="dcterms:W3CDTF">2013-01-27T09:14:16Z</dcterms:created>
  <dcterms:modified xsi:type="dcterms:W3CDTF">2026-05-28T14:33:06Z</dcterms:modified>
  <cp:category/>
</cp:coreProperties>
</file>