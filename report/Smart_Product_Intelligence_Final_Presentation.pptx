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Smart Product Intelligence as a complete AI engineering capstone. Emphasize that the project combines data preparation, modeling, generative AI, and a final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project goal: turn product reviews, images, and metadata into useful product intelligence outputs through a final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dataset, selected category, and why product-level splitting matters for realistic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system architecture from raw dataset to processed splits, model notebooks, final Gradio app, and report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data engineering steps: loading, cleaning, joining, feature creation, EDA, and product-level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tabular models and why baselines are necessary before moving to multimodal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image pipeline and why MobileNetV2 transfer learning is included alongside a small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two-part text milestone: classification and similar product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transformer milestone and its fallback strategy for local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product-level summaries and RAG question answering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prompt creation, Stable Diffusion model choice, fallback model, and quality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live demo sequence and what each tab represents.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tangible outputs across data, notebooks, app, report, and generated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engineering and modeling limitations encountered across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 practical roadmap for improving the project after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emphasizing breadth, integration, and portfolio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36576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Cascadia Mono"/>
              </a:rPr>
              <a:t>SMART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502920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Aptos Display"/>
              </a:rPr>
              <a:t>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603504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900" b="0">
                <a:solidFill>
                  <a:srgbClr val="94A3B8"/>
                </a:solidFill>
                <a:latin typeface="Aptos"/>
              </a:rPr>
              <a:t>AI-powered product analytics for Amazon beauty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1508760" cy="347472"/>
          </a:xfrm>
          <a:prstGeom prst="roundRect">
            <a:avLst/>
          </a:prstGeom>
          <a:solidFill>
            <a:srgbClr val="0C1E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386584"/>
            <a:ext cx="15087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4D399"/>
                </a:solidFill>
                <a:latin typeface="Aptos"/>
              </a:rPr>
              <a:t>TensorFlow / Keras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2331720"/>
            <a:ext cx="1005840" cy="347472"/>
          </a:xfrm>
          <a:prstGeom prst="roundRect">
            <a:avLst/>
          </a:prstGeom>
          <a:solidFill>
            <a:srgbClr val="0C1E3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2386584"/>
            <a:ext cx="10058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A78BFA"/>
                </a:solidFill>
                <a:latin typeface="Aptos"/>
              </a:rPr>
              <a:t>DistilBERT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331720"/>
            <a:ext cx="658368" cy="347472"/>
          </a:xfrm>
          <a:prstGeom prst="roundRect">
            <a:avLst/>
          </a:prstGeom>
          <a:solidFill>
            <a:srgbClr val="0C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2386584"/>
            <a:ext cx="658368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Aptos"/>
              </a:rPr>
              <a:t>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331720"/>
            <a:ext cx="1417320" cy="347472"/>
          </a:xfrm>
          <a:prstGeom prst="roundRect">
            <a:avLst/>
          </a:prstGeom>
          <a:solidFill>
            <a:srgbClr val="0C1E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2386584"/>
            <a:ext cx="14173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FBBF24"/>
                </a:solidFill>
                <a:latin typeface="Aptos"/>
              </a:rPr>
              <a:t>Stable Diffusion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2331720"/>
            <a:ext cx="822960" cy="347472"/>
          </a:xfrm>
          <a:prstGeom prst="roundRect">
            <a:avLst/>
          </a:prstGeom>
          <a:solidFill>
            <a:srgbClr val="0C1E34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2386584"/>
            <a:ext cx="8229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FB7185"/>
                </a:solidFill>
                <a:latin typeface="Aptos"/>
              </a:rPr>
              <a:t>Gradio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86200"/>
            <a:ext cx="2743200" cy="114300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886200"/>
            <a:ext cx="54864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14215"/>
            <a:ext cx="24231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16552"/>
            <a:ext cx="24231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Amazon Reviews 2023</a:t>
            </a:r>
            <a:br/>
            <a:r>
              <a:t>Category: All_Beauty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0752" y="3886200"/>
            <a:ext cx="2743200" cy="114300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30752" y="3886200"/>
            <a:ext cx="54864" cy="1143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4014215"/>
            <a:ext cx="24231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Final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416552"/>
            <a:ext cx="24231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Integrated multimodal</a:t>
            </a:r>
            <a:br/>
            <a:r>
              <a:t>Gradio application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8272" y="3886200"/>
            <a:ext cx="2743200" cy="114300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48272" y="3886200"/>
            <a:ext cx="54864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014215"/>
            <a:ext cx="24231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Portfolio 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416552"/>
            <a:ext cx="24231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AI engineering workflow</a:t>
            </a:r>
            <a:br/>
            <a:r>
              <a:t>from data to demo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0" y="1005840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92640" y="822960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89920" y="164592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69680" y="256032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41280" y="2926080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5440" y="4114800"/>
            <a:ext cx="201168" cy="20116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8330183" y="923544"/>
            <a:ext cx="1463041" cy="182880"/>
          </a:xfrm>
          <a:prstGeom prst="line">
            <a:avLst/>
          </a:prstGeom>
          <a:ln w="17780">
            <a:solidFill>
              <a:srgbClr val="445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93224" y="923544"/>
            <a:ext cx="1097280" cy="822960"/>
          </a:xfrm>
          <a:prstGeom prst="line">
            <a:avLst/>
          </a:prstGeom>
          <a:ln w="17780">
            <a:solidFill>
              <a:srgbClr val="445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30183" y="1106424"/>
            <a:ext cx="640081" cy="1554480"/>
          </a:xfrm>
          <a:prstGeom prst="line">
            <a:avLst/>
          </a:prstGeom>
          <a:ln w="17780">
            <a:solidFill>
              <a:srgbClr val="445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970264" y="2660904"/>
            <a:ext cx="1371600" cy="365760"/>
          </a:xfrm>
          <a:prstGeom prst="line">
            <a:avLst/>
          </a:prstGeom>
          <a:ln w="17780">
            <a:solidFill>
              <a:srgbClr val="445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336024" y="3026664"/>
            <a:ext cx="1005840" cy="1188720"/>
          </a:xfrm>
          <a:prstGeom prst="line">
            <a:avLst/>
          </a:prstGeom>
          <a:ln w="17780">
            <a:solidFill>
              <a:srgbClr val="445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970264" y="2660904"/>
            <a:ext cx="365760" cy="1554480"/>
          </a:xfrm>
          <a:prstGeom prst="line">
            <a:avLst/>
          </a:prstGeom>
          <a:ln w="17780">
            <a:solidFill>
              <a:srgbClr val="445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970264" y="923544"/>
            <a:ext cx="822960" cy="1737360"/>
          </a:xfrm>
          <a:prstGeom prst="line">
            <a:avLst/>
          </a:prstGeom>
          <a:ln w="17780">
            <a:solidFill>
              <a:srgbClr val="445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3232" y="6144768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94A3B8"/>
                </a:solidFill>
                <a:latin typeface="Aptos"/>
              </a:rPr>
              <a:t>University Capstone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scadia Mon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A multimodal AI system for product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00200"/>
            <a:ext cx="4937760" cy="3291840"/>
          </a:xfrm>
          <a:prstGeom prst="rect">
            <a:avLst/>
          </a:prstGeom>
          <a:noFill/>
        </p:spPr>
        <p:txBody>
          <a:bodyPr wrap="none" lIns="73152" rIns="54864" tIns="36576" bIns="36576">
            <a:spAutoFit/>
          </a:bodyPr>
          <a:lstStyle/>
          <a:p>
            <a:pPr marL="228600" indent="-114300">
              <a:spcAft>
                <a:spcPts val="700"/>
              </a:spcAft>
              <a:defRPr sz="1800">
                <a:solidFill>
                  <a:srgbClr val="ECF4FF"/>
                </a:solidFill>
                <a:latin typeface="Aptos"/>
              </a:defRPr>
            </a:pPr>
            <a:r>
              <a:t>Goal: build an end-to-end AI workflow for beauty product analytics</a:t>
            </a:r>
          </a:p>
          <a:p>
            <a:pPr marL="228600" indent="-114300">
              <a:spcAft>
                <a:spcPts val="700"/>
              </a:spcAft>
              <a:defRPr sz="1800">
                <a:solidFill>
                  <a:srgbClr val="ECF4FF"/>
                </a:solidFill>
                <a:latin typeface="Aptos"/>
              </a:defRPr>
            </a:pPr>
            <a:r>
              <a:t>Inputs: metadata, review text, product images, user questions</a:t>
            </a:r>
          </a:p>
          <a:p>
            <a:pPr marL="228600" indent="-114300">
              <a:spcAft>
                <a:spcPts val="700"/>
              </a:spcAft>
              <a:defRPr sz="1800">
                <a:solidFill>
                  <a:srgbClr val="ECF4FF"/>
                </a:solidFill>
                <a:latin typeface="Aptos"/>
              </a:defRPr>
            </a:pPr>
            <a:r>
              <a:t>Outputs: rating bands, category signals, similar products, review summaries, generated hero images</a:t>
            </a:r>
          </a:p>
          <a:p>
            <a:pPr marL="228600" indent="-114300">
              <a:spcAft>
                <a:spcPts val="700"/>
              </a:spcAft>
              <a:defRPr sz="1800">
                <a:solidFill>
                  <a:srgbClr val="ECF4FF"/>
                </a:solidFill>
                <a:latin typeface="Aptos"/>
              </a:defRPr>
            </a:pPr>
            <a:r>
              <a:t>Final interface: five-tab Gradio application with safe fallbacks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4389120" cy="86868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45336"/>
            <a:ext cx="40690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47672"/>
            <a:ext cx="40690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EDA, cleaning,</a:t>
            </a:r>
            <a:br/>
            <a:r>
              <a:t>product-level splits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4389120" cy="86868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4864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779776"/>
            <a:ext cx="40690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182112"/>
            <a:ext cx="40690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Tabular, vision,</a:t>
            </a:r>
            <a:br/>
            <a:r>
              <a:t>text, transformers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4389120" cy="86868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4864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014215"/>
            <a:ext cx="40690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416552"/>
            <a:ext cx="40690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RAG answers and</a:t>
            </a:r>
            <a:br/>
            <a:r>
              <a:t>hero image concepts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413248"/>
            <a:ext cx="99669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94A3B8"/>
                </a:solidFill>
                <a:latin typeface="Aptos"/>
              </a:rPr>
              <a:t>The project demonstrates breadth across ML, deep learning, NLP, retrieval, and generative AI while keeping the implementation practical for local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scadia Mon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Amazon Reviews 2023 provides the product intelligence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444752"/>
            <a:ext cx="4800600" cy="283464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444752"/>
            <a:ext cx="54864" cy="2834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72768"/>
            <a:ext cx="44805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Dataset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75104"/>
            <a:ext cx="4480560" cy="2194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Source: McAuley-Lab/Amazon-Reviews-2023</a:t>
            </a:r>
            <a:br/>
            <a:r>
              <a:t>Category: All_Beauty</a:t>
            </a:r>
            <a:br/>
            <a:r>
              <a:t>Reviews: raw_review_All_Beauty</a:t>
            </a:r>
            <a:br/>
            <a:r>
              <a:t>Metadata: raw_meta_All_Beauty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526280"/>
            <a:ext cx="4800600" cy="114300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526280"/>
            <a:ext cx="54864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54296"/>
            <a:ext cx="44805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Leakage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56632"/>
            <a:ext cx="44805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Train, validation, and test sets are split by product ID rather than individual review rows.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481328"/>
            <a:ext cx="32004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Product-level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984248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Train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2002536"/>
            <a:ext cx="251460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0648" y="2002536"/>
            <a:ext cx="2514600" cy="14630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965960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71928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70648" y="2490216"/>
            <a:ext cx="251460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70648" y="2490216"/>
            <a:ext cx="538842" cy="14630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453640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959608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70648" y="2977896"/>
            <a:ext cx="251460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70648" y="2977896"/>
            <a:ext cx="538842" cy="14630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941320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3840480"/>
            <a:ext cx="32004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Processed outputs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315968"/>
            <a:ext cx="3246120" cy="347472"/>
          </a:xfrm>
          <a:prstGeom prst="roundRect">
            <a:avLst/>
          </a:prstGeom>
          <a:solidFill>
            <a:srgbClr val="0C1E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370831"/>
            <a:ext cx="3246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FBBF24"/>
                </a:solidFill>
                <a:latin typeface="Aptos"/>
              </a:rPr>
              <a:t>data/processed/train.csv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754879"/>
            <a:ext cx="3246120" cy="347472"/>
          </a:xfrm>
          <a:prstGeom prst="roundRect">
            <a:avLst/>
          </a:prstGeom>
          <a:solidFill>
            <a:srgbClr val="0C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809743"/>
            <a:ext cx="3246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Aptos"/>
              </a:rPr>
              <a:t>data/processed/validation.csv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193792"/>
            <a:ext cx="3246120" cy="347472"/>
          </a:xfrm>
          <a:prstGeom prst="roundRect">
            <a:avLst/>
          </a:prstGeom>
          <a:solidFill>
            <a:srgbClr val="0C1E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5248655"/>
            <a:ext cx="3246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Aptos"/>
              </a:rPr>
              <a:t>data/processed/test.csv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Cascadia Mon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A clean pipeline connects data, models, and the final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1600200" cy="86868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145389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Raw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67712"/>
            <a:ext cx="1380744" cy="3657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Reviews + 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828800"/>
            <a:ext cx="1600200" cy="86868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1938528"/>
            <a:ext cx="145389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Processed Splits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267712"/>
            <a:ext cx="1380744" cy="3657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Train / validation /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828800"/>
            <a:ext cx="1600200" cy="86868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1938528"/>
            <a:ext cx="145389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Model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2267712"/>
            <a:ext cx="1380744" cy="3657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Tabular, vision, text, transformer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828800"/>
            <a:ext cx="1600200" cy="86868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1" y="1938528"/>
            <a:ext cx="145389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Generative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2267712"/>
            <a:ext cx="1380744" cy="3657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RAG + diffusion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828800"/>
            <a:ext cx="1600200" cy="86868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5752" y="1938528"/>
            <a:ext cx="145389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Gradio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267712"/>
            <a:ext cx="1380744" cy="3657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Five-tab interface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86000" y="2267712"/>
            <a:ext cx="292608" cy="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80560" y="2267712"/>
            <a:ext cx="292608" cy="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0" y="2267712"/>
            <a:ext cx="292608" cy="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2560" y="2267712"/>
            <a:ext cx="292608" cy="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" y="3794760"/>
            <a:ext cx="2286000" cy="96012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3794760"/>
            <a:ext cx="54864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3922776"/>
            <a:ext cx="1965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src/data.py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325112"/>
            <a:ext cx="1965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Data access and preprocessing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794760"/>
            <a:ext cx="2286000" cy="96012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3794760"/>
            <a:ext cx="54864" cy="960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0168" y="3922776"/>
            <a:ext cx="1965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src/models.py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4325112"/>
            <a:ext cx="1965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Model construction and inference 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3794760"/>
            <a:ext cx="2286000" cy="96012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3794760"/>
            <a:ext cx="54864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3922776"/>
            <a:ext cx="1965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src/utils.py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4325112"/>
            <a:ext cx="1965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Configuration, paths, logging, seeds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3794760"/>
            <a:ext cx="2286000" cy="96012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58200" y="3794760"/>
            <a:ext cx="54864" cy="9601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9368" y="3922776"/>
            <a:ext cx="1965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app/app.py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9368" y="4325112"/>
            <a:ext cx="1965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Presentation layer and demo fallbacks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349240"/>
            <a:ext cx="97840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94A3B8"/>
                </a:solidFill>
                <a:latin typeface="Aptos"/>
              </a:rPr>
              <a:t>MVC-like organization keeps notebooks, model logic, app integration, and reporting clearly separated.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scadia Mon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MILESTONE 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Data preparation created reliable modeling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132588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117957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67712"/>
            <a:ext cx="110642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Hugging Face configs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212848"/>
            <a:ext cx="502920" cy="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40" y="1828800"/>
            <a:ext cx="132588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1938528"/>
            <a:ext cx="117957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267712"/>
            <a:ext cx="110642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Missing values + 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0520" y="2212848"/>
            <a:ext cx="502920" cy="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983480" y="1828800"/>
            <a:ext cx="132588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1938528"/>
            <a:ext cx="117957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Join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2267712"/>
            <a:ext cx="110642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Reviews + metadata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09360" y="2212848"/>
            <a:ext cx="502920" cy="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0" y="1828800"/>
            <a:ext cx="132588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1938528"/>
            <a:ext cx="117957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267712"/>
            <a:ext cx="110642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Length, price, images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58200" y="2212848"/>
            <a:ext cx="502920" cy="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81160" y="1828800"/>
            <a:ext cx="132588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1938528"/>
            <a:ext cx="117957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2267712"/>
            <a:ext cx="110642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By product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03320"/>
            <a:ext cx="8138160" cy="1508760"/>
          </a:xfrm>
          <a:prstGeom prst="rect">
            <a:avLst/>
          </a:prstGeom>
          <a:noFill/>
        </p:spPr>
        <p:txBody>
          <a:bodyPr wrap="none" lIns="73152" rIns="54864" tIns="36576" bIns="36576">
            <a:spAutoFit/>
          </a:bodyPr>
          <a:lstStyle/>
          <a:p>
            <a:pPr marL="228600" indent="-114300">
              <a:spcAft>
                <a:spcPts val="700"/>
              </a:spcAft>
              <a:defRPr sz="1700">
                <a:solidFill>
                  <a:srgbClr val="ECF4FF"/>
                </a:solidFill>
                <a:latin typeface="Aptos"/>
              </a:defRPr>
            </a:pPr>
            <a:r>
              <a:t>Maximum local subset: 30,000 reviews and 10,000 products</a:t>
            </a:r>
          </a:p>
          <a:p>
            <a:pPr marL="228600" indent="-114300">
              <a:spcAft>
                <a:spcPts val="700"/>
              </a:spcAft>
              <a:defRPr sz="1700">
                <a:solidFill>
                  <a:srgbClr val="ECF4FF"/>
                </a:solidFill>
                <a:latin typeface="Aptos"/>
              </a:defRPr>
            </a:pPr>
            <a:r>
              <a:t>EDA plots: rating distribution, price distribution, review length, missing values, image availability</a:t>
            </a:r>
          </a:p>
          <a:p>
            <a:pPr marL="228600" indent="-114300">
              <a:spcAft>
                <a:spcPts val="700"/>
              </a:spcAft>
              <a:defRPr sz="1700">
                <a:solidFill>
                  <a:srgbClr val="ECF4FF"/>
                </a:solidFill>
                <a:latin typeface="Aptos"/>
              </a:defRPr>
            </a:pPr>
            <a:r>
              <a:t>Final outputs: train.csv, validation.csv, test.csv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3703320"/>
            <a:ext cx="2103120" cy="141732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8280" y="3703320"/>
            <a:ext cx="54864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3831335"/>
            <a:ext cx="1783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4233672"/>
            <a:ext cx="1783079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Reliable data preparation makes every later milestone easier to evaluate and debug.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scadia Mon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MILESTONE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Tabular baselines established a structured-data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108960" cy="132588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17320"/>
            <a:ext cx="54864" cy="1325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545336"/>
            <a:ext cx="27889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47672"/>
            <a:ext cx="278892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Price</a:t>
            </a:r>
            <a:br/>
            <a:r>
              <a:t>Rating count</a:t>
            </a:r>
            <a:br/>
            <a:r>
              <a:t>Review length</a:t>
            </a:r>
            <a:br/>
            <a:r>
              <a:t>Image availability</a:t>
            </a:r>
            <a:br/>
            <a:r>
              <a:t>Helpful votes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417320"/>
            <a:ext cx="2926080" cy="132588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417320"/>
            <a:ext cx="54864" cy="1325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545336"/>
            <a:ext cx="26060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947672"/>
            <a:ext cx="260604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Logistic Regression</a:t>
            </a:r>
            <a:br/>
            <a:r>
              <a:t>Imputation + scaling</a:t>
            </a:r>
            <a:br/>
            <a:r>
              <a:t>Fast and interpretable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417320"/>
            <a:ext cx="2926080" cy="132588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417320"/>
            <a:ext cx="54864" cy="1325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1545336"/>
            <a:ext cx="26060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Neural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1947672"/>
            <a:ext cx="260604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TensorFlow/Keras MLP</a:t>
            </a:r>
            <a:br/>
            <a:r>
              <a:t>ReLU hidden layers</a:t>
            </a:r>
            <a:br/>
            <a:r>
              <a:t>Dropout + softmax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401568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Evaluation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13048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Classification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67128" y="3831336"/>
            <a:ext cx="324612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67128" y="3831336"/>
            <a:ext cx="3246120" cy="14630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3794760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47388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Confusion matrix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67128" y="4265676"/>
            <a:ext cx="324612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67128" y="4265676"/>
            <a:ext cx="3246120" cy="14630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4229100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681728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Learning curves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67128" y="4700016"/>
            <a:ext cx="324612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67128" y="4700016"/>
            <a:ext cx="2434589" cy="14630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663440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16068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Error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67128" y="5134356"/>
            <a:ext cx="324612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67128" y="5134356"/>
            <a:ext cx="2434589" cy="14630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5097780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977639"/>
            <a:ext cx="443484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Milestone 1 answers: how far can metadata alone go before we add text and image signals?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3B82F6"/>
                </a:solidFill>
                <a:latin typeface="Cascadia Mon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MILESTONE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Transfer learning made image analysis practical on small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141732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38528"/>
            <a:ext cx="127101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Image URLs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67712"/>
            <a:ext cx="119786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safe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1828800"/>
            <a:ext cx="141732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1938528"/>
            <a:ext cx="127101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267712"/>
            <a:ext cx="119786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data/images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1353312"/>
            <a:ext cx="160020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463040"/>
            <a:ext cx="145389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Small 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1792224"/>
            <a:ext cx="138074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from scratch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331720"/>
            <a:ext cx="160020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2441448"/>
            <a:ext cx="145389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MobileNetV2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2770632"/>
            <a:ext cx="138074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transfer 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828800"/>
            <a:ext cx="1508760" cy="77724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1938528"/>
            <a:ext cx="136245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2267712"/>
            <a:ext cx="1289304" cy="2743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metrics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2212848"/>
            <a:ext cx="502920" cy="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114800" y="1737360"/>
            <a:ext cx="502920" cy="475488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14800" y="2212848"/>
            <a:ext cx="502920" cy="50292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17920" y="1737360"/>
            <a:ext cx="502920" cy="475488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217920" y="2212848"/>
            <a:ext cx="502920" cy="502920"/>
          </a:xfrm>
          <a:prstGeom prst="line">
            <a:avLst/>
          </a:prstGeom>
          <a:ln w="17780">
            <a:solidFill>
              <a:srgbClr val="5F7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915400" y="1353312"/>
            <a:ext cx="2057400" cy="1874519"/>
          </a:xfrm>
          <a:prstGeom prst="roundRect">
            <a:avLst/>
          </a:prstGeom>
          <a:solidFill>
            <a:srgbClr val="081220"/>
          </a:solidFill>
          <a:ln w="12700">
            <a:solidFill>
              <a:srgbClr val="30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15400" y="1353312"/>
            <a:ext cx="2057400" cy="34747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9992" y="1444752"/>
            <a:ext cx="17830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ptos"/>
              </a:rPr>
              <a:t>Image preview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1947672"/>
            <a:ext cx="1600200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0" y="2286000"/>
            <a:ext cx="1600200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0" y="2624328"/>
            <a:ext cx="1600200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97312" y="1426464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2834639"/>
            <a:ext cx="1600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Aptos"/>
              </a:rPr>
              <a:t>Screenshot placeholder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60520"/>
            <a:ext cx="9052560" cy="1097280"/>
          </a:xfrm>
          <a:prstGeom prst="rect">
            <a:avLst/>
          </a:prstGeom>
          <a:noFill/>
        </p:spPr>
        <p:txBody>
          <a:bodyPr wrap="none" lIns="73152" rIns="54864" tIns="36576" bIns="36576">
            <a:spAutoFit/>
          </a:bodyPr>
          <a:lstStyle/>
          <a:p>
            <a:pPr marL="228600" indent="-114300">
              <a:spcAft>
                <a:spcPts val="700"/>
              </a:spcAft>
              <a:defRPr sz="1600">
                <a:solidFill>
                  <a:srgbClr val="ECF4FF"/>
                </a:solidFill>
                <a:latin typeface="Aptos"/>
              </a:defRPr>
            </a:pPr>
            <a:r>
              <a:t>Limits: up to 1,000 train images, 300 validation, 300 test</a:t>
            </a:r>
          </a:p>
          <a:p>
            <a:pPr marL="228600" indent="-114300">
              <a:spcAft>
                <a:spcPts val="700"/>
              </a:spcAft>
              <a:defRPr sz="1600">
                <a:solidFill>
                  <a:srgbClr val="ECF4FF"/>
                </a:solidFill>
                <a:latin typeface="Aptos"/>
              </a:defRPr>
            </a:pPr>
            <a:r>
              <a:t>Broken image URLs are skipped safely</a:t>
            </a:r>
          </a:p>
          <a:p>
            <a:pPr marL="228600" indent="-114300">
              <a:spcAft>
                <a:spcPts val="700"/>
              </a:spcAft>
              <a:defRPr sz="1600">
                <a:solidFill>
                  <a:srgbClr val="ECF4FF"/>
                </a:solidFill>
                <a:latin typeface="Aptos"/>
              </a:defRPr>
            </a:pPr>
            <a:r>
              <a:t>Outputs include accuracy, macro-F1, confusion matrix, and sample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Cascadia Mon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MILESTONE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Text modeling enabled both classification and product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4297680" cy="150876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54864" cy="1508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545336"/>
            <a:ext cx="39776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Part A: Text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47672"/>
            <a:ext cx="3977640" cy="868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TF-IDF + Logistic Regression baseline</a:t>
            </a:r>
            <a:br/>
            <a:r>
              <a:t>Keras TextVectorization + Embedding model</a:t>
            </a:r>
            <a:br/>
            <a:r>
              <a:t>Accuracy, macro-F1, report, confusion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417320"/>
            <a:ext cx="4297680" cy="150876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32120" y="1417320"/>
            <a:ext cx="54864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1545336"/>
            <a:ext cx="39776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Part B: Similar Product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1947672"/>
            <a:ext cx="3977640" cy="868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Product-level search text</a:t>
            </a:r>
            <a:br/>
            <a:r>
              <a:t>TF-IDF vectors</a:t>
            </a:r>
            <a:br/>
            <a:r>
              <a:t>Cosine similarity top-k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9039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Example query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60520"/>
            <a:ext cx="4572000" cy="594360"/>
          </a:xfrm>
          <a:prstGeom prst="roundRect">
            <a:avLst/>
          </a:prstGeom>
          <a:solidFill>
            <a:srgbClr val="0C1E3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343400"/>
            <a:ext cx="416052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38BDF8"/>
                </a:solidFill>
                <a:latin typeface="Cascadia Mono"/>
              </a:rPr>
              <a:t>gentle moisturizer for sensitive skin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069080"/>
            <a:ext cx="1051560" cy="50292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8152" y="4178808"/>
            <a:ext cx="905255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Query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4069080"/>
            <a:ext cx="1051560" cy="50292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2" y="4178808"/>
            <a:ext cx="905255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TF-IDF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4069080"/>
            <a:ext cx="1051560" cy="502920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4178808"/>
            <a:ext cx="905255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Top 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66560" y="4325112"/>
            <a:ext cx="365760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183879" y="4325112"/>
            <a:ext cx="365761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A78BFA"/>
                </a:solidFill>
                <a:latin typeface="Cascadia Mon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MILESTONE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DistilBERT added contextual language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81328"/>
            <a:ext cx="2743200" cy="118872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81328"/>
            <a:ext cx="54864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609344"/>
            <a:ext cx="24231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011680"/>
            <a:ext cx="2423160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TF-IDF + Logistic Regression</a:t>
            </a:r>
            <a:br/>
            <a:r>
              <a:t>Fast, interpretable comparison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1481328"/>
            <a:ext cx="2743200" cy="118872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1481328"/>
            <a:ext cx="54864" cy="1188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0207" y="1609344"/>
            <a:ext cx="24231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7" y="2011680"/>
            <a:ext cx="2423160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DistilBERT</a:t>
            </a:r>
            <a:br/>
            <a:r>
              <a:t>distilbert-base-uncased</a:t>
            </a:r>
            <a:br/>
            <a:r>
              <a:t>Rating-band classification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481328"/>
            <a:ext cx="2743200" cy="118872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1481328"/>
            <a:ext cx="54864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1609344"/>
            <a:ext cx="24231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011680"/>
            <a:ext cx="2423160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Frozen transformer embeddings</a:t>
            </a:r>
            <a:br/>
            <a:r>
              <a:t>+ Logistic Regression if fine-tuning fails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474720"/>
            <a:ext cx="25603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Evaluation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86200"/>
            <a:ext cx="4389120" cy="1508760"/>
          </a:xfrm>
          <a:prstGeom prst="rect">
            <a:avLst/>
          </a:prstGeom>
          <a:noFill/>
        </p:spPr>
        <p:txBody>
          <a:bodyPr wrap="none" lIns="73152" rIns="54864" tIns="36576" bIns="36576">
            <a:spAutoFit/>
          </a:bodyPr>
          <a:lstStyle/>
          <a:p>
            <a:pPr marL="228600" indent="-114300">
              <a:spcAft>
                <a:spcPts val="700"/>
              </a:spcAft>
              <a:defRPr sz="1600">
                <a:solidFill>
                  <a:srgbClr val="ECF4FF"/>
                </a:solidFill>
                <a:latin typeface="Aptos"/>
              </a:defRPr>
            </a:pPr>
            <a:r>
              <a:t>Accuracy and macro-F1</a:t>
            </a:r>
          </a:p>
          <a:p>
            <a:pPr marL="228600" indent="-114300">
              <a:spcAft>
                <a:spcPts val="700"/>
              </a:spcAft>
              <a:defRPr sz="1600">
                <a:solidFill>
                  <a:srgbClr val="ECF4FF"/>
                </a:solidFill>
                <a:latin typeface="Aptos"/>
              </a:defRPr>
            </a:pPr>
            <a:r>
              <a:t>Classification report</a:t>
            </a:r>
          </a:p>
          <a:p>
            <a:pPr marL="228600" indent="-114300">
              <a:spcAft>
                <a:spcPts val="700"/>
              </a:spcAft>
              <a:defRPr sz="1600">
                <a:solidFill>
                  <a:srgbClr val="ECF4FF"/>
                </a:solidFill>
                <a:latin typeface="Aptos"/>
              </a:defRPr>
            </a:pPr>
            <a:r>
              <a:t>Confusion matrix</a:t>
            </a:r>
          </a:p>
          <a:p>
            <a:pPr marL="228600" indent="-114300">
              <a:spcAft>
                <a:spcPts val="700"/>
              </a:spcAft>
              <a:defRPr sz="1600">
                <a:solidFill>
                  <a:srgbClr val="ECF4FF"/>
                </a:solidFill>
                <a:latin typeface="Aptos"/>
              </a:defRPr>
            </a:pPr>
            <a:r>
              <a:t>Latency comparison</a:t>
            </a:r>
          </a:p>
          <a:p>
            <a:pPr marL="228600" indent="-114300">
              <a:spcAft>
                <a:spcPts val="700"/>
              </a:spcAft>
              <a:defRPr sz="1600">
                <a:solidFill>
                  <a:srgbClr val="ECF4FF"/>
                </a:solidFill>
                <a:latin typeface="Aptos"/>
              </a:defRPr>
            </a:pPr>
            <a:r>
              <a:t>Short error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794760"/>
            <a:ext cx="22860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Why DistilBERT?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187952"/>
            <a:ext cx="384048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0">
                <a:solidFill>
                  <a:srgbClr val="94A3B8"/>
                </a:solidFill>
                <a:latin typeface="Aptos"/>
              </a:rPr>
              <a:t>It provides contextual review representations while staying lighter than full BERT for local capstone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scadia Mon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MILESTONE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RAG grounded review answers in retrieved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1508760" cy="749808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47088"/>
            <a:ext cx="136245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Aggregate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76272"/>
            <a:ext cx="1289304" cy="24688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product-level reviews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2112264"/>
            <a:ext cx="365759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63240" y="1737360"/>
            <a:ext cx="1508760" cy="749808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1847088"/>
            <a:ext cx="136245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2176272"/>
            <a:ext cx="1289304" cy="24688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top 5 chunks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2112264"/>
            <a:ext cx="365760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03520" y="1737360"/>
            <a:ext cx="1508760" cy="749808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1847088"/>
            <a:ext cx="136245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176272"/>
            <a:ext cx="1289304" cy="24688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LLM answer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12280" y="2112264"/>
            <a:ext cx="365760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43800" y="1737360"/>
            <a:ext cx="1508760" cy="749808"/>
          </a:xfrm>
          <a:prstGeom prst="roundRect">
            <a:avLst/>
          </a:prstGeom>
          <a:solidFill>
            <a:srgbClr val="0B1A2D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1847088"/>
            <a:ext cx="136245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2176272"/>
            <a:ext cx="1289304" cy="246887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evidence +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246120"/>
            <a:ext cx="2926080" cy="123444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3246120"/>
            <a:ext cx="54864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3374136"/>
            <a:ext cx="26060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Summaries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3776472"/>
            <a:ext cx="260604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Pros</a:t>
            </a:r>
            <a:br/>
            <a:r>
              <a:t>Cons</a:t>
            </a:r>
            <a:br/>
            <a:r>
              <a:t>Short product 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3246120"/>
            <a:ext cx="2926080" cy="123444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0520" y="3246120"/>
            <a:ext cx="54864" cy="1234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3374136"/>
            <a:ext cx="26060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LLM Options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3776472"/>
            <a:ext cx="260604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google/flan-t5-small</a:t>
            </a:r>
            <a:br/>
            <a:r>
              <a:t>facebook/bart-base fallback</a:t>
            </a:r>
            <a:br/>
            <a:r>
              <a:t>prompt-template fallback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3246120"/>
            <a:ext cx="2926080" cy="123444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324612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53528" y="3374136"/>
            <a:ext cx="26060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Grounding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53528" y="3776472"/>
            <a:ext cx="260604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Answer</a:t>
            </a:r>
            <a:br/>
            <a:r>
              <a:t>Confidence score</a:t>
            </a:r>
            <a:br/>
            <a:r>
              <a:t>Retrieved evidence snippets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349240"/>
            <a:ext cx="9418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0">
                <a:solidFill>
                  <a:srgbClr val="94A3B8"/>
                </a:solidFill>
                <a:latin typeface="Aptos"/>
              </a:rPr>
              <a:t>RAG reduces hallucination risk by forcing the answer to use retrieved review context.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FBBF24"/>
                </a:solidFill>
                <a:latin typeface="Cascadia Mon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MILESTONE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Stable Diffusion explored product image ideation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2788920" cy="123444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54864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545336"/>
            <a:ext cx="24688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Prompt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47672"/>
            <a:ext cx="2468879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Product title</a:t>
            </a:r>
            <a:br/>
            <a:r>
              <a:t>Description</a:t>
            </a:r>
            <a:br/>
            <a:r>
              <a:t>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417320"/>
            <a:ext cx="2788920" cy="123444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1417320"/>
            <a:ext cx="54864" cy="1234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1545336"/>
            <a:ext cx="24688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Model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1947672"/>
            <a:ext cx="2468879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Stable Diffusion v1.5</a:t>
            </a:r>
            <a:br/>
            <a:r>
              <a:t>Fallback: tiny SD pipeline</a:t>
            </a:r>
            <a:br/>
            <a:r>
              <a:t>FAST_MODE for local runs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417320"/>
            <a:ext cx="2788920" cy="123444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141732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8" y="1545336"/>
            <a:ext cx="24688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1947672"/>
            <a:ext cx="2468879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Original product photo</a:t>
            </a:r>
            <a:br/>
            <a:r>
              <a:t>Lifestyle variation</a:t>
            </a:r>
            <a:br/>
            <a:r>
              <a:t>Marketing hero image</a:t>
            </a:r>
          </a:p>
        </p:txBody>
      </p:sp>
      <p:pic>
        <p:nvPicPr>
          <p:cNvPr id="22" name="Picture 21" descr="b08bbq29n5_lifestyle_var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2423160" cy="1508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400" y="4965192"/>
            <a:ext cx="24231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Original</a:t>
            </a:r>
          </a:p>
        </p:txBody>
      </p:sp>
      <p:pic>
        <p:nvPicPr>
          <p:cNvPr id="24" name="Picture 23" descr="b08bbq29n5_marketing_hero_vari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39" y="3337560"/>
            <a:ext cx="2423160" cy="1508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977639" y="4965192"/>
            <a:ext cx="24231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Lifestyle</a:t>
            </a:r>
          </a:p>
        </p:txBody>
      </p:sp>
      <p:pic>
        <p:nvPicPr>
          <p:cNvPr id="26" name="Picture 25" descr="b08bbq29n5_original_prom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337560"/>
            <a:ext cx="2423160" cy="1508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0880" y="4965192"/>
            <a:ext cx="24231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Hero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650992"/>
            <a:ext cx="94183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50" b="0">
                <a:solidFill>
                  <a:srgbClr val="94A3B8"/>
                </a:solidFill>
                <a:latin typeface="Aptos"/>
              </a:rPr>
              <a:t>Failure modes: invented packaging, incorrect labels, unrealistic claims, and CPU runtime limits.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FB7185"/>
                </a:solidFill>
                <a:latin typeface="Cascadia Mon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MILESTONE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The Gradio demo connects every milestone into one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08760"/>
            <a:ext cx="1874519" cy="1508760"/>
          </a:xfrm>
          <a:prstGeom prst="roundRect">
            <a:avLst/>
          </a:prstGeom>
          <a:solidFill>
            <a:srgbClr val="081220"/>
          </a:solidFill>
          <a:ln w="12700">
            <a:solidFill>
              <a:srgbClr val="30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508760"/>
            <a:ext cx="1874519" cy="34747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600200"/>
            <a:ext cx="1600199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ptos"/>
              </a:rPr>
              <a:t>Predicted Rating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103120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41448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779776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93391" y="158191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24327"/>
            <a:ext cx="1417319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Aptos"/>
              </a:rPr>
              <a:t>Screenshot placeholder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1508760"/>
            <a:ext cx="1874519" cy="1508760"/>
          </a:xfrm>
          <a:prstGeom prst="roundRect">
            <a:avLst/>
          </a:prstGeom>
          <a:solidFill>
            <a:srgbClr val="081220"/>
          </a:solidFill>
          <a:ln w="12700">
            <a:solidFill>
              <a:srgbClr val="30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1508760"/>
            <a:ext cx="1874519" cy="34747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1600200"/>
            <a:ext cx="1600199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ptos"/>
              </a:rPr>
              <a:t>Image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2103120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63240" y="2441448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63240" y="2779776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33672" y="158191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2624327"/>
            <a:ext cx="1417319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Aptos"/>
              </a:rPr>
              <a:t>Screenshot placeholder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1508760"/>
            <a:ext cx="1874519" cy="1508760"/>
          </a:xfrm>
          <a:prstGeom prst="roundRect">
            <a:avLst/>
          </a:prstGeom>
          <a:solidFill>
            <a:srgbClr val="081220"/>
          </a:solidFill>
          <a:ln w="12700">
            <a:solidFill>
              <a:srgbClr val="30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74920" y="1508760"/>
            <a:ext cx="1874519" cy="34747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9512" y="1600200"/>
            <a:ext cx="1600199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ptos"/>
              </a:rPr>
              <a:t>Similar Products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2103120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03520" y="2441448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03520" y="2779776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73952" y="1581912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624327"/>
            <a:ext cx="1417319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Aptos"/>
              </a:rPr>
              <a:t>Screenshot placeholder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1508760"/>
            <a:ext cx="1874519" cy="1508760"/>
          </a:xfrm>
          <a:prstGeom prst="roundRect">
            <a:avLst/>
          </a:prstGeom>
          <a:solidFill>
            <a:srgbClr val="081220"/>
          </a:solidFill>
          <a:ln w="12700">
            <a:solidFill>
              <a:srgbClr val="30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1508760"/>
            <a:ext cx="1874519" cy="34747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1600200"/>
            <a:ext cx="1600199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ptos"/>
              </a:rPr>
              <a:t>Review Intelligence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2103120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43800" y="2441448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43800" y="2779776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14232" y="1581912"/>
            <a:ext cx="146304" cy="14630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2624327"/>
            <a:ext cx="1417319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Aptos"/>
              </a:rPr>
              <a:t>Screenshot placeholder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55480" y="1508760"/>
            <a:ext cx="1874519" cy="1508760"/>
          </a:xfrm>
          <a:prstGeom prst="roundRect">
            <a:avLst/>
          </a:prstGeom>
          <a:solidFill>
            <a:srgbClr val="081220"/>
          </a:solidFill>
          <a:ln w="12700">
            <a:solidFill>
              <a:srgbClr val="30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55480" y="1508760"/>
            <a:ext cx="1874519" cy="34747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20072" y="1600200"/>
            <a:ext cx="1600199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ptos"/>
              </a:rPr>
              <a:t>AI Image Gen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2103120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84080" y="2441448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84080" y="2779776"/>
            <a:ext cx="1417319" cy="109728"/>
          </a:xfrm>
          <a:prstGeom prst="roundRect">
            <a:avLst/>
          </a:prstGeom>
          <a:solidFill>
            <a:srgbClr val="23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954512" y="1581912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2624327"/>
            <a:ext cx="1417319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Aptos"/>
              </a:rPr>
              <a:t>Screenshot placeholder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3703320"/>
            <a:ext cx="13716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Demo 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4069080"/>
            <a:ext cx="7498079" cy="1508760"/>
          </a:xfrm>
          <a:prstGeom prst="rect">
            <a:avLst/>
          </a:prstGeom>
          <a:noFill/>
        </p:spPr>
        <p:txBody>
          <a:bodyPr wrap="none" lIns="73152" rIns="54864" tIns="36576" bIns="36576">
            <a:spAutoFit/>
          </a:bodyPr>
          <a:lstStyle/>
          <a:p>
            <a:pPr marL="228600" indent="-114300">
              <a:spcAft>
                <a:spcPts val="700"/>
              </a:spcAft>
              <a:defRPr sz="1550">
                <a:solidFill>
                  <a:srgbClr val="ECF4FF"/>
                </a:solidFill>
                <a:latin typeface="Aptos"/>
              </a:defRPr>
            </a:pPr>
            <a:r>
              <a:t>1. Enter product metadata and predict a rating band</a:t>
            </a:r>
          </a:p>
          <a:p>
            <a:pPr marL="228600" indent="-114300">
              <a:spcAft>
                <a:spcPts val="700"/>
              </a:spcAft>
              <a:defRPr sz="1550">
                <a:solidFill>
                  <a:srgbClr val="ECF4FF"/>
                </a:solidFill>
                <a:latin typeface="Aptos"/>
              </a:defRPr>
            </a:pPr>
            <a:r>
              <a:t>2. Upload a product image for category-style analysis</a:t>
            </a:r>
          </a:p>
          <a:p>
            <a:pPr marL="228600" indent="-114300">
              <a:spcAft>
                <a:spcPts val="700"/>
              </a:spcAft>
              <a:defRPr sz="1550">
                <a:solidFill>
                  <a:srgbClr val="ECF4FF"/>
                </a:solidFill>
                <a:latin typeface="Aptos"/>
              </a:defRPr>
            </a:pPr>
            <a:r>
              <a:t>3. Search for similar products using natural language</a:t>
            </a:r>
          </a:p>
          <a:p>
            <a:pPr marL="228600" indent="-114300">
              <a:spcAft>
                <a:spcPts val="700"/>
              </a:spcAft>
              <a:defRPr sz="1550">
                <a:solidFill>
                  <a:srgbClr val="ECF4FF"/>
                </a:solidFill>
                <a:latin typeface="Aptos"/>
              </a:defRPr>
            </a:pPr>
            <a:r>
              <a:t>4. Ask a review question and inspect grounded evidence</a:t>
            </a:r>
          </a:p>
          <a:p>
            <a:pPr marL="228600" indent="-114300">
              <a:spcAft>
                <a:spcPts val="700"/>
              </a:spcAft>
              <a:defRPr sz="1550">
                <a:solidFill>
                  <a:srgbClr val="ECF4FF"/>
                </a:solidFill>
                <a:latin typeface="Aptos"/>
              </a:defRPr>
            </a:pPr>
            <a:r>
              <a:t>5. Generate a hero image concept from product metadata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32520" y="3977639"/>
            <a:ext cx="2240280" cy="114300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32520" y="3977639"/>
            <a:ext cx="54864" cy="1143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33688" y="4105655"/>
            <a:ext cx="19202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Fallback-first design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33688" y="4507992"/>
            <a:ext cx="1920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The app stays usable even when trained artifacts are not present.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scadia Mon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The project delivers a complete AI engineering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22860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Delivered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Processed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7128" y="1938528"/>
            <a:ext cx="352044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67128" y="1938528"/>
            <a:ext cx="1508760" cy="14630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9019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77440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Model notebooks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67128" y="2395728"/>
            <a:ext cx="352044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67128" y="2395728"/>
            <a:ext cx="3520440" cy="14630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3591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34640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App tabs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67128" y="2852928"/>
            <a:ext cx="352044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67128" y="2852928"/>
            <a:ext cx="2514600" cy="14630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8163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291840"/>
            <a:ext cx="12344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ptos"/>
              </a:rPr>
              <a:t>Report assets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67128" y="3310128"/>
            <a:ext cx="3520440" cy="146304"/>
          </a:xfrm>
          <a:prstGeom prst="roundRect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67128" y="3310128"/>
            <a:ext cx="1508760" cy="14630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273552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417320"/>
            <a:ext cx="4206240" cy="713232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417320"/>
            <a:ext cx="54864" cy="7132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1545336"/>
            <a:ext cx="38862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1947672"/>
            <a:ext cx="3886200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Train, validation, and test splits saved under data/processed/.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350008"/>
            <a:ext cx="4206240" cy="713232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2350008"/>
            <a:ext cx="54864" cy="7132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478024"/>
            <a:ext cx="38862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880360"/>
            <a:ext cx="3886200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Tabular, vision, text, transformer, RAG, and diffusion workflows.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282696"/>
            <a:ext cx="4206240" cy="713232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282696"/>
            <a:ext cx="54864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3410712"/>
            <a:ext cx="38862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Application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3813048"/>
            <a:ext cx="3886200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Five-tab Gradio interface with safe fallbacks.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215384"/>
            <a:ext cx="4206240" cy="713232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4215384"/>
            <a:ext cx="54864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4343400"/>
            <a:ext cx="38862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Documentation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4745736"/>
            <a:ext cx="3886200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README, final report, and presentation materials.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349240"/>
            <a:ext cx="95097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50" b="0">
                <a:solidFill>
                  <a:srgbClr val="94A3B8"/>
                </a:solidFill>
                <a:latin typeface="Aptos"/>
              </a:rPr>
              <a:t>Final numeric metrics are produced by running each milestone notebook in the target environment.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FB7185"/>
                </a:solidFill>
                <a:latin typeface="Cascadia Mon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Robustness mattered as much as model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2788920" cy="1024128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54864" cy="1024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682495"/>
            <a:ext cx="24688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Schema variability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084831"/>
            <a:ext cx="2468879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Columns can differ across processed files, requiring safe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554480"/>
            <a:ext cx="2788920" cy="1024128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1554480"/>
            <a:ext cx="54864" cy="10241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1682495"/>
            <a:ext cx="24688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Leakage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2084831"/>
            <a:ext cx="2468879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Product-level splitting avoids duplicate product signals across splits.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59" y="1554480"/>
            <a:ext cx="2788920" cy="1024128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59" y="1554480"/>
            <a:ext cx="54864" cy="10241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7" y="1682495"/>
            <a:ext cx="24688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Runtime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2084831"/>
            <a:ext cx="2468879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Transformers, vision, and diffusion can be slow on CPU.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35808"/>
            <a:ext cx="2788920" cy="1024128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35808"/>
            <a:ext cx="54864" cy="10241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163824"/>
            <a:ext cx="24688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Missing artifacts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566160"/>
            <a:ext cx="2468879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The final app needs fallbacks when trained models are not saved.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3035808"/>
            <a:ext cx="2788920" cy="1024128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77639" y="3035808"/>
            <a:ext cx="54864" cy="1024128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8807" y="3163824"/>
            <a:ext cx="24688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Generative reliability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8807" y="3566160"/>
            <a:ext cx="2468879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LLM and diffusion outputs require grounding and validation.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74920"/>
            <a:ext cx="9875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94A3B8"/>
                </a:solidFill>
                <a:latin typeface="Aptos"/>
              </a:rPr>
              <a:t>Limitation: the repository is designed for capstone execution, so FAST_MODE and local fallbacks prioritize reproducibility over full-scale production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Cascadia Mono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FUTURE IMPROVEMENTS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The next step is production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138988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472184"/>
            <a:ext cx="384048" cy="137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71600"/>
            <a:ext cx="31089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Persist model 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45920"/>
            <a:ext cx="74066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Save and version trained models for direct app loading.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2176272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258568"/>
            <a:ext cx="384048" cy="137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157984"/>
            <a:ext cx="31089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Improve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432304"/>
            <a:ext cx="74066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Add FAISS or Chroma for stronger vector search.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2962656"/>
            <a:ext cx="384048" cy="38404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044952"/>
            <a:ext cx="384048" cy="137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44368"/>
            <a:ext cx="31089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Add experiment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18688"/>
            <a:ext cx="74066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Use MLflow, W&amp;B, or TensorBoard summaries.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3749039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831335"/>
            <a:ext cx="384048" cy="137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30752"/>
            <a:ext cx="31089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Deploy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005072"/>
            <a:ext cx="74066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Host the Gradio app and add real screenshots/video.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" y="453542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617720"/>
            <a:ext cx="384048" cy="137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517136"/>
            <a:ext cx="31089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Safety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791456"/>
            <a:ext cx="74066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Evaluate hallucination and product-claim risk.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2011680"/>
            <a:ext cx="2057400" cy="146304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2011680"/>
            <a:ext cx="54864" cy="1463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8" y="2139696"/>
            <a:ext cx="17373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Portfolio upgrade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8008" y="2542032"/>
            <a:ext cx="173736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Add screenshots, demo video, deployment URL, and model cards.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2C2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457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scadia Mon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1">
                <a:solidFill>
                  <a:srgbClr val="94A3B8"/>
                </a:solidFill>
                <a:latin typeface="Apto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58368"/>
            <a:ext cx="475488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76809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Smart Product Intelligence demonstrates full-stack AI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6519672"/>
            <a:ext cx="4434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Smart Product Intelligence | All_Beauty |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27432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6035040" cy="2011680"/>
          </a:xfrm>
          <a:prstGeom prst="rect">
            <a:avLst/>
          </a:prstGeom>
          <a:noFill/>
        </p:spPr>
        <p:txBody>
          <a:bodyPr wrap="none" lIns="73152" rIns="54864" tIns="36576" bIns="36576">
            <a:spAutoFit/>
          </a:bodyPr>
          <a:lstStyle/>
          <a:p>
            <a:pPr marL="228600" indent="-114300">
              <a:spcAft>
                <a:spcPts val="700"/>
              </a:spcAft>
              <a:defRPr sz="1800">
                <a:solidFill>
                  <a:srgbClr val="ECF4FF"/>
                </a:solidFill>
                <a:latin typeface="Aptos"/>
              </a:defRPr>
            </a:pPr>
            <a:r>
              <a:t>Built a complete multimodal product intelligence pipeline</a:t>
            </a:r>
          </a:p>
          <a:p>
            <a:pPr marL="228600" indent="-114300">
              <a:spcAft>
                <a:spcPts val="700"/>
              </a:spcAft>
              <a:defRPr sz="1800">
                <a:solidFill>
                  <a:srgbClr val="ECF4FF"/>
                </a:solidFill>
                <a:latin typeface="Aptos"/>
              </a:defRPr>
            </a:pPr>
            <a:r>
              <a:t>Combined TensorFlow, DistilBERT, RAG, Stable Diffusion, Transfer Learning, and Gradio</a:t>
            </a:r>
          </a:p>
          <a:p>
            <a:pPr marL="228600" indent="-114300">
              <a:spcAft>
                <a:spcPts val="700"/>
              </a:spcAft>
              <a:defRPr sz="1800">
                <a:solidFill>
                  <a:srgbClr val="ECF4FF"/>
                </a:solidFill>
                <a:latin typeface="Aptos"/>
              </a:defRPr>
            </a:pPr>
            <a:r>
              <a:t>Connected experiments into a final interactive application</a:t>
            </a:r>
          </a:p>
          <a:p>
            <a:pPr marL="228600" indent="-114300">
              <a:spcAft>
                <a:spcPts val="700"/>
              </a:spcAft>
              <a:defRPr sz="1800">
                <a:solidFill>
                  <a:srgbClr val="ECF4FF"/>
                </a:solidFill>
                <a:latin typeface="Aptos"/>
              </a:defRPr>
            </a:pPr>
            <a:r>
              <a:t>Documented results, limitations, lessons learned, and future improvements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45920"/>
            <a:ext cx="2926080" cy="2148840"/>
          </a:xfrm>
          <a:prstGeom prst="roundRect">
            <a:avLst/>
          </a:prstGeom>
          <a:solidFill>
            <a:srgbClr val="102037"/>
          </a:solidFill>
          <a:ln w="12700">
            <a:solidFill>
              <a:srgbClr val="2E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645920"/>
            <a:ext cx="54864" cy="2148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1773936"/>
            <a:ext cx="26060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Final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2176272"/>
            <a:ext cx="2606040" cy="1508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Aptos"/>
              </a:rPr>
              <a:t>This capstone shows practical AI engineering discipline: robust data prep, meaningful baselines, modern models, generative AI, and a clear application layer.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320040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400" b="1">
                <a:solidFill>
                  <a:srgbClr val="38BDF8"/>
                </a:solidFill>
                <a:latin typeface="Aptos Display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376672"/>
            <a:ext cx="20116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800" b="0">
                <a:solidFill>
                  <a:srgbClr val="94A3B8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